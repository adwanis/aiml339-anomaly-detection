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9" r:id="rId1"/>
  </p:sldMasterIdLst>
  <p:notesMasterIdLst>
    <p:notesMasterId r:id="rId39"/>
  </p:notesMasterIdLst>
  <p:sldIdLst>
    <p:sldId id="256" r:id="rId2"/>
    <p:sldId id="262" r:id="rId3"/>
    <p:sldId id="275" r:id="rId4"/>
    <p:sldId id="271" r:id="rId5"/>
    <p:sldId id="276" r:id="rId6"/>
    <p:sldId id="269" r:id="rId7"/>
    <p:sldId id="264" r:id="rId8"/>
    <p:sldId id="280" r:id="rId9"/>
    <p:sldId id="277" r:id="rId10"/>
    <p:sldId id="281" r:id="rId11"/>
    <p:sldId id="278" r:id="rId12"/>
    <p:sldId id="282" r:id="rId13"/>
    <p:sldId id="279" r:id="rId14"/>
    <p:sldId id="272" r:id="rId15"/>
    <p:sldId id="283" r:id="rId16"/>
    <p:sldId id="284" r:id="rId17"/>
    <p:sldId id="285" r:id="rId18"/>
    <p:sldId id="286" r:id="rId19"/>
    <p:sldId id="287" r:id="rId20"/>
    <p:sldId id="288" r:id="rId21"/>
    <p:sldId id="289" r:id="rId22"/>
    <p:sldId id="290" r:id="rId23"/>
    <p:sldId id="291" r:id="rId24"/>
    <p:sldId id="294" r:id="rId25"/>
    <p:sldId id="293" r:id="rId26"/>
    <p:sldId id="292" r:id="rId27"/>
    <p:sldId id="296" r:id="rId28"/>
    <p:sldId id="297" r:id="rId29"/>
    <p:sldId id="295" r:id="rId30"/>
    <p:sldId id="299" r:id="rId31"/>
    <p:sldId id="298" r:id="rId32"/>
    <p:sldId id="300" r:id="rId33"/>
    <p:sldId id="302" r:id="rId34"/>
    <p:sldId id="303" r:id="rId35"/>
    <p:sldId id="267" r:id="rId36"/>
    <p:sldId id="268" r:id="rId37"/>
    <p:sldId id="304"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7A7B8AC-8C71-110E-3D96-565920A1A694}" name="Sahil Adwani" initials="SA" userId="3cc36f66c81858f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79554" autoAdjust="0"/>
  </p:normalViewPr>
  <p:slideViewPr>
    <p:cSldViewPr snapToGrid="0">
      <p:cViewPr>
        <p:scale>
          <a:sx n="66" d="100"/>
          <a:sy n="66" d="100"/>
        </p:scale>
        <p:origin x="133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1T05:52:46.61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25,'45'-16,"-3"11,1 2,81 4,-37 1,801-2,-870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64C0E1-A596-4E46-B062-95002042DAD8}" type="datetimeFigureOut">
              <a:rPr lang="en-NZ" smtClean="0"/>
              <a:t>20/10/2025</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BE5E2C-5F7F-484F-BFFF-757AF484147D}" type="slidenum">
              <a:rPr lang="en-NZ" smtClean="0"/>
              <a:t>‹#›</a:t>
            </a:fld>
            <a:endParaRPr lang="en-NZ"/>
          </a:p>
        </p:txBody>
      </p:sp>
    </p:spTree>
    <p:extLst>
      <p:ext uri="{BB962C8B-B14F-4D97-AF65-F5344CB8AC3E}">
        <p14:creationId xmlns:p14="http://schemas.microsoft.com/office/powerpoint/2010/main" val="857116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1</a:t>
            </a:fld>
            <a:endParaRPr lang="en-NZ"/>
          </a:p>
        </p:txBody>
      </p:sp>
    </p:spTree>
    <p:extLst>
      <p:ext uri="{BB962C8B-B14F-4D97-AF65-F5344CB8AC3E}">
        <p14:creationId xmlns:p14="http://schemas.microsoft.com/office/powerpoint/2010/main" val="300668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2</a:t>
            </a:fld>
            <a:endParaRPr lang="en-NZ"/>
          </a:p>
        </p:txBody>
      </p:sp>
    </p:spTree>
    <p:extLst>
      <p:ext uri="{BB962C8B-B14F-4D97-AF65-F5344CB8AC3E}">
        <p14:creationId xmlns:p14="http://schemas.microsoft.com/office/powerpoint/2010/main" val="3033306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Traditional machine learning methods like SVMs, decision trees, or K-means were effective in earlier intrusion detection systems</a:t>
            </a:r>
          </a:p>
          <a:p>
            <a:endParaRPr lang="en-US" dirty="0"/>
          </a:p>
          <a:p>
            <a:r>
              <a:rPr lang="en-US" b="1" dirty="0"/>
              <a:t>Deep learning methods</a:t>
            </a:r>
            <a:r>
              <a:rPr lang="en-US" dirty="0"/>
              <a:t>, in contrast, are more recent and have shown strong performance in tasks involving large-scale, high-dimensional, and noisy data — like network traffic</a:t>
            </a:r>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4</a:t>
            </a:fld>
            <a:endParaRPr lang="en-NZ"/>
          </a:p>
        </p:txBody>
      </p:sp>
    </p:spTree>
    <p:extLst>
      <p:ext uri="{BB962C8B-B14F-4D97-AF65-F5344CB8AC3E}">
        <p14:creationId xmlns:p14="http://schemas.microsoft.com/office/powerpoint/2010/main" val="2575340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5</a:t>
            </a:fld>
            <a:endParaRPr lang="en-NZ"/>
          </a:p>
        </p:txBody>
      </p:sp>
    </p:spTree>
    <p:extLst>
      <p:ext uri="{BB962C8B-B14F-4D97-AF65-F5344CB8AC3E}">
        <p14:creationId xmlns:p14="http://schemas.microsoft.com/office/powerpoint/2010/main" val="989478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6</a:t>
            </a:fld>
            <a:endParaRPr lang="en-NZ"/>
          </a:p>
        </p:txBody>
      </p:sp>
    </p:spTree>
    <p:extLst>
      <p:ext uri="{BB962C8B-B14F-4D97-AF65-F5344CB8AC3E}">
        <p14:creationId xmlns:p14="http://schemas.microsoft.com/office/powerpoint/2010/main" val="1048717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2017,2018,2018</a:t>
            </a:r>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7</a:t>
            </a:fld>
            <a:endParaRPr lang="en-NZ"/>
          </a:p>
        </p:txBody>
      </p:sp>
    </p:spTree>
    <p:extLst>
      <p:ext uri="{BB962C8B-B14F-4D97-AF65-F5344CB8AC3E}">
        <p14:creationId xmlns:p14="http://schemas.microsoft.com/office/powerpoint/2010/main" val="3096854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10</a:t>
            </a:fld>
            <a:endParaRPr lang="en-NZ"/>
          </a:p>
        </p:txBody>
      </p:sp>
    </p:spTree>
    <p:extLst>
      <p:ext uri="{BB962C8B-B14F-4D97-AF65-F5344CB8AC3E}">
        <p14:creationId xmlns:p14="http://schemas.microsoft.com/office/powerpoint/2010/main" val="2088368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12</a:t>
            </a:fld>
            <a:endParaRPr lang="en-NZ"/>
          </a:p>
        </p:txBody>
      </p:sp>
    </p:spTree>
    <p:extLst>
      <p:ext uri="{BB962C8B-B14F-4D97-AF65-F5344CB8AC3E}">
        <p14:creationId xmlns:p14="http://schemas.microsoft.com/office/powerpoint/2010/main" val="3454724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NZ" dirty="0"/>
              <a:t>I started by reviewing several popular deep learning methods used in anomaly detection, </a:t>
            </a:r>
          </a:p>
          <a:p>
            <a:pPr lvl="1"/>
            <a:r>
              <a:rPr lang="en-NZ" dirty="0"/>
              <a:t>Variational Autoencoder (VAE) </a:t>
            </a:r>
          </a:p>
          <a:p>
            <a:pPr lvl="1"/>
            <a:r>
              <a:rPr lang="en-NZ" dirty="0"/>
              <a:t>Generative Adversarial Networks (GANs) –including GANomaly and AnoGAN </a:t>
            </a:r>
          </a:p>
          <a:p>
            <a:pPr lvl="1"/>
            <a:r>
              <a:rPr lang="en-NZ" dirty="0"/>
              <a:t>Recurrent Neural Networks (RNNs) – like LSTM-based models</a:t>
            </a:r>
          </a:p>
          <a:p>
            <a:pPr lvl="1"/>
            <a:r>
              <a:rPr lang="en-NZ" dirty="0"/>
              <a:t> Convolutional Neural Networks (CNNs) – such as CNN autoencoders</a:t>
            </a:r>
          </a:p>
          <a:p>
            <a:pPr lvl="1"/>
            <a:r>
              <a:rPr lang="en-NZ" dirty="0"/>
              <a:t>Transformers – like the Anomaly Transformer </a:t>
            </a:r>
          </a:p>
          <a:p>
            <a:pPr lvl="1"/>
            <a:r>
              <a:rPr lang="en-NZ" dirty="0"/>
              <a:t>Deep Support Vector Data Description (Deep SVDD)</a:t>
            </a:r>
          </a:p>
          <a:p>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14</a:t>
            </a:fld>
            <a:endParaRPr lang="en-NZ"/>
          </a:p>
        </p:txBody>
      </p:sp>
    </p:spTree>
    <p:extLst>
      <p:ext uri="{BB962C8B-B14F-4D97-AF65-F5344CB8AC3E}">
        <p14:creationId xmlns:p14="http://schemas.microsoft.com/office/powerpoint/2010/main" val="3018159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Scope:</a:t>
            </a:r>
            <a:r>
              <a:rPr lang="en-US" sz="1200" b="0" i="0" kern="1200" dirty="0">
                <a:solidFill>
                  <a:schemeClr val="tx1"/>
                </a:solidFill>
                <a:effectLst/>
                <a:latin typeface="+mn-lt"/>
                <a:ea typeface="+mn-ea"/>
                <a:cs typeface="+mn-cs"/>
              </a:rPr>
              <a:t> 8 days of real enterprise network traffic</a:t>
            </a:r>
          </a:p>
          <a:p>
            <a:r>
              <a:rPr lang="en-US" sz="1200" b="1" i="0" kern="1200" dirty="0">
                <a:solidFill>
                  <a:schemeClr val="tx1"/>
                </a:solidFill>
                <a:effectLst/>
                <a:latin typeface="+mn-lt"/>
                <a:ea typeface="+mn-ea"/>
                <a:cs typeface="+mn-cs"/>
              </a:rPr>
              <a:t>Initial Size:</a:t>
            </a:r>
            <a:r>
              <a:rPr lang="en-US" sz="1200" b="0" i="0" kern="1200" dirty="0">
                <a:solidFill>
                  <a:schemeClr val="tx1"/>
                </a:solidFill>
                <a:effectLst/>
                <a:latin typeface="+mn-lt"/>
                <a:ea typeface="+mn-ea"/>
                <a:cs typeface="+mn-cs"/>
              </a:rPr>
              <a:t> 2.8 million network flows, 79 features</a:t>
            </a:r>
          </a:p>
          <a:p>
            <a:r>
              <a:rPr lang="en-US" sz="1200" b="1" i="0" kern="1200" dirty="0">
                <a:solidFill>
                  <a:schemeClr val="tx1"/>
                </a:solidFill>
                <a:effectLst/>
                <a:latin typeface="+mn-lt"/>
                <a:ea typeface="+mn-ea"/>
                <a:cs typeface="+mn-cs"/>
              </a:rPr>
              <a:t>Attack Variety:</a:t>
            </a:r>
            <a:r>
              <a:rPr lang="en-US" sz="1200" b="0" i="0" kern="1200" dirty="0">
                <a:solidFill>
                  <a:schemeClr val="tx1"/>
                </a:solidFill>
                <a:effectLst/>
                <a:latin typeface="+mn-lt"/>
                <a:ea typeface="+mn-ea"/>
                <a:cs typeface="+mn-cs"/>
              </a:rPr>
              <a:t> 14 different attack types including DDoS, PortScan, Infiltration</a:t>
            </a:r>
          </a:p>
          <a:p>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15</a:t>
            </a:fld>
            <a:endParaRPr lang="en-NZ"/>
          </a:p>
        </p:txBody>
      </p:sp>
    </p:spTree>
    <p:extLst>
      <p:ext uri="{BB962C8B-B14F-4D97-AF65-F5344CB8AC3E}">
        <p14:creationId xmlns:p14="http://schemas.microsoft.com/office/powerpoint/2010/main" val="2139468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NZ" dirty="0"/>
              <a:t>Here is how it looks on excel</a:t>
            </a:r>
          </a:p>
          <a:p>
            <a:r>
              <a:rPr lang="en-NZ" dirty="0"/>
              <a:t>Here are all the different type of attacks</a:t>
            </a:r>
          </a:p>
          <a:p>
            <a:r>
              <a:rPr lang="en-NZ" dirty="0"/>
              <a:t>And here all the 8 different files across 5 days. Each file have a different sort of attack found</a:t>
            </a:r>
          </a:p>
        </p:txBody>
      </p:sp>
      <p:sp>
        <p:nvSpPr>
          <p:cNvPr id="4" name="Slide Number Placeholder 3"/>
          <p:cNvSpPr>
            <a:spLocks noGrp="1"/>
          </p:cNvSpPr>
          <p:nvPr>
            <p:ph type="sldNum" sz="quarter" idx="5"/>
          </p:nvPr>
        </p:nvSpPr>
        <p:spPr/>
        <p:txBody>
          <a:bodyPr/>
          <a:lstStyle/>
          <a:p>
            <a:fld id="{FABE5E2C-5F7F-484F-BFFF-757AF484147D}" type="slidenum">
              <a:rPr lang="en-NZ" smtClean="0"/>
              <a:t>16</a:t>
            </a:fld>
            <a:endParaRPr lang="en-NZ"/>
          </a:p>
        </p:txBody>
      </p:sp>
    </p:spTree>
    <p:extLst>
      <p:ext uri="{BB962C8B-B14F-4D97-AF65-F5344CB8AC3E}">
        <p14:creationId xmlns:p14="http://schemas.microsoft.com/office/powerpoint/2010/main" val="1361461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One-Class Training:</a:t>
            </a:r>
            <a:r>
              <a:rPr lang="en-US" dirty="0"/>
              <a:t> Used only </a:t>
            </a:r>
            <a:r>
              <a:rPr lang="en-US" b="1" dirty="0"/>
              <a:t>normal samples</a:t>
            </a:r>
            <a:r>
              <a:rPr lang="en-US" dirty="0"/>
              <a:t> for training (1,467,538 samples)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Why 70:30 ?</a:t>
            </a:r>
            <a:r>
              <a:rPr lang="en-US" dirty="0"/>
              <a:t> Mimics real-world conditions where attack data is scarce or unknown</a:t>
            </a:r>
          </a:p>
          <a:p>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17</a:t>
            </a:fld>
            <a:endParaRPr lang="en-NZ"/>
          </a:p>
        </p:txBody>
      </p:sp>
    </p:spTree>
    <p:extLst>
      <p:ext uri="{BB962C8B-B14F-4D97-AF65-F5344CB8AC3E}">
        <p14:creationId xmlns:p14="http://schemas.microsoft.com/office/powerpoint/2010/main" val="1766016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Why These Specific Parameters?</a:t>
            </a:r>
          </a:p>
          <a:p>
            <a:r>
              <a:rPr lang="en-US" sz="1200" b="1" i="0" kern="1200" dirty="0">
                <a:solidFill>
                  <a:schemeClr val="tx1"/>
                </a:solidFill>
                <a:effectLst/>
                <a:latin typeface="+mn-lt"/>
                <a:ea typeface="+mn-ea"/>
                <a:cs typeface="+mn-cs"/>
              </a:rPr>
              <a:t>Balanced for All Three Architectures:</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Latent Dimension (64):</a:t>
            </a:r>
            <a:r>
              <a:rPr lang="en-US" sz="1200" b="0" i="0" kern="1200" dirty="0">
                <a:solidFill>
                  <a:schemeClr val="tx1"/>
                </a:solidFill>
                <a:effectLst/>
                <a:latin typeface="+mn-lt"/>
                <a:ea typeface="+mn-ea"/>
                <a:cs typeface="+mn-cs"/>
              </a:rPr>
              <a:t> Large enough to capture complex patterns, small enough to force meaningful compression</a:t>
            </a:r>
          </a:p>
          <a:p>
            <a:r>
              <a:rPr lang="en-US" sz="1200" b="1" i="0" kern="1200" dirty="0">
                <a:solidFill>
                  <a:schemeClr val="tx1"/>
                </a:solidFill>
                <a:effectLst/>
                <a:latin typeface="+mn-lt"/>
                <a:ea typeface="+mn-ea"/>
                <a:cs typeface="+mn-cs"/>
              </a:rPr>
              <a:t>Hidden Layers [256, 128]:</a:t>
            </a:r>
            <a:r>
              <a:rPr lang="en-US" sz="1200" b="0" i="0" kern="1200" dirty="0">
                <a:solidFill>
                  <a:schemeClr val="tx1"/>
                </a:solidFill>
                <a:effectLst/>
                <a:latin typeface="+mn-lt"/>
                <a:ea typeface="+mn-ea"/>
                <a:cs typeface="+mn-cs"/>
              </a:rPr>
              <a:t> Standard progression that works well for tabular data without over-parameterization</a:t>
            </a:r>
          </a:p>
          <a:p>
            <a:r>
              <a:rPr lang="en-US" sz="1200" b="1" i="0" kern="1200" dirty="0">
                <a:solidFill>
                  <a:schemeClr val="tx1"/>
                </a:solidFill>
                <a:effectLst/>
                <a:latin typeface="+mn-lt"/>
                <a:ea typeface="+mn-ea"/>
                <a:cs typeface="+mn-cs"/>
              </a:rPr>
              <a:t>Batch Size (256):</a:t>
            </a:r>
            <a:r>
              <a:rPr lang="en-US" sz="1200" b="0" i="0" kern="1200" dirty="0">
                <a:solidFill>
                  <a:schemeClr val="tx1"/>
                </a:solidFill>
                <a:effectLst/>
                <a:latin typeface="+mn-lt"/>
                <a:ea typeface="+mn-ea"/>
                <a:cs typeface="+mn-cs"/>
              </a:rPr>
              <a:t> Balances training stability and computational efficiency</a:t>
            </a:r>
          </a:p>
          <a:p>
            <a:r>
              <a:rPr lang="en-US" sz="1200" b="1" i="0" kern="1200" dirty="0">
                <a:solidFill>
                  <a:schemeClr val="tx1"/>
                </a:solidFill>
                <a:effectLst/>
                <a:latin typeface="+mn-lt"/>
                <a:ea typeface="+mn-ea"/>
                <a:cs typeface="+mn-cs"/>
              </a:rPr>
              <a:t>50,000 Samples:</a:t>
            </a:r>
            <a:r>
              <a:rPr lang="en-US" sz="1200" b="0" i="0" kern="1200" dirty="0">
                <a:solidFill>
                  <a:schemeClr val="tx1"/>
                </a:solidFill>
                <a:effectLst/>
                <a:latin typeface="+mn-lt"/>
                <a:ea typeface="+mn-ea"/>
                <a:cs typeface="+mn-cs"/>
              </a:rPr>
              <a:t> Sufficient to learn meaningful patterns while maintaining practical training times</a:t>
            </a:r>
          </a:p>
          <a:p>
            <a:r>
              <a:rPr lang="en-US" sz="1200" b="1" i="0" kern="1200" dirty="0">
                <a:solidFill>
                  <a:schemeClr val="tx1"/>
                </a:solidFill>
                <a:effectLst/>
                <a:latin typeface="+mn-lt"/>
                <a:ea typeface="+mn-ea"/>
                <a:cs typeface="+mn-cs"/>
              </a:rPr>
              <a:t>Learning Rate (0.001):</a:t>
            </a:r>
            <a:r>
              <a:rPr lang="en-US" sz="1200" b="0" i="0" kern="1200" dirty="0">
                <a:solidFill>
                  <a:schemeClr val="tx1"/>
                </a:solidFill>
                <a:effectLst/>
                <a:latin typeface="+mn-lt"/>
                <a:ea typeface="+mn-ea"/>
                <a:cs typeface="+mn-cs"/>
              </a:rPr>
              <a:t> Default Adam rate - stable for all three very different optimization objectives</a:t>
            </a:r>
          </a:p>
          <a:p>
            <a:r>
              <a:rPr lang="en-US" sz="1200" b="1" i="0" kern="1200" dirty="0">
                <a:solidFill>
                  <a:schemeClr val="tx1"/>
                </a:solidFill>
                <a:effectLst/>
                <a:latin typeface="+mn-lt"/>
                <a:ea typeface="+mn-ea"/>
                <a:cs typeface="+mn-cs"/>
              </a:rPr>
              <a:t>Designed for Cross-Architecture Compatibility: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Works for VAE's probabilistic encoding</a:t>
            </a:r>
          </a:p>
          <a:p>
            <a:r>
              <a:rPr lang="en-US" sz="1200" b="0" i="0" kern="1200" dirty="0">
                <a:solidFill>
                  <a:schemeClr val="tx1"/>
                </a:solidFill>
                <a:effectLst/>
                <a:latin typeface="+mn-lt"/>
                <a:ea typeface="+mn-ea"/>
                <a:cs typeface="+mn-cs"/>
              </a:rPr>
              <a:t>Suitable for GANomaly's adversarial training</a:t>
            </a:r>
          </a:p>
          <a:p>
            <a:r>
              <a:rPr lang="en-US" sz="1200" b="0" i="0" kern="1200" dirty="0">
                <a:solidFill>
                  <a:schemeClr val="tx1"/>
                </a:solidFill>
                <a:effectLst/>
                <a:latin typeface="+mn-lt"/>
                <a:ea typeface="+mn-ea"/>
                <a:cs typeface="+mn-cs"/>
              </a:rPr>
              <a:t>Effective for Deep SVDD's hypersphere learning</a:t>
            </a:r>
          </a:p>
          <a:p>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18</a:t>
            </a:fld>
            <a:endParaRPr lang="en-NZ"/>
          </a:p>
        </p:txBody>
      </p:sp>
    </p:spTree>
    <p:extLst>
      <p:ext uri="{BB962C8B-B14F-4D97-AF65-F5344CB8AC3E}">
        <p14:creationId xmlns:p14="http://schemas.microsoft.com/office/powerpoint/2010/main" val="4070667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Why conservative, </a:t>
            </a:r>
            <a:r>
              <a:rPr lang="en-US" sz="1200" b="1" i="0" kern="1200" dirty="0">
                <a:solidFill>
                  <a:schemeClr val="tx1"/>
                </a:solidFill>
                <a:effectLst/>
                <a:latin typeface="+mn-lt"/>
                <a:ea typeface="+mn-ea"/>
                <a:cs typeface="+mn-cs"/>
              </a:rPr>
              <a:t>Default thresholds are conservative because they're designed to be statistically "safe" rather than operationally effective. </a:t>
            </a:r>
            <a:r>
              <a:rPr lang="en-US" sz="1200" b="0" i="0" kern="1200" dirty="0">
                <a:solidFill>
                  <a:schemeClr val="tx1"/>
                </a:solidFill>
                <a:effectLst/>
                <a:latin typeface="+mn-lt"/>
                <a:ea typeface="+mn-ea"/>
                <a:cs typeface="+mn-cs"/>
              </a:rPr>
              <a:t>Defaults like "mean + 2 standard deviations" are designed to </a:t>
            </a:r>
            <a:r>
              <a:rPr lang="en-US" sz="1200" b="1" i="0" kern="1200" dirty="0">
                <a:solidFill>
                  <a:schemeClr val="tx1"/>
                </a:solidFill>
                <a:effectLst/>
                <a:latin typeface="+mn-lt"/>
                <a:ea typeface="+mn-ea"/>
                <a:cs typeface="+mn-cs"/>
              </a:rPr>
              <a:t>minimize false positives</a:t>
            </a:r>
            <a:endParaRPr lang="en-US" sz="1200" b="0" i="0" kern="1200" dirty="0">
              <a:solidFill>
                <a:schemeClr val="tx1"/>
              </a:solidFill>
              <a:effectLst/>
              <a:latin typeface="+mn-lt"/>
              <a:ea typeface="+mn-ea"/>
              <a:cs typeface="+mn-cs"/>
            </a:endParaRPr>
          </a:p>
          <a:p>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20</a:t>
            </a:fld>
            <a:endParaRPr lang="en-NZ"/>
          </a:p>
        </p:txBody>
      </p:sp>
    </p:spTree>
    <p:extLst>
      <p:ext uri="{BB962C8B-B14F-4D97-AF65-F5344CB8AC3E}">
        <p14:creationId xmlns:p14="http://schemas.microsoft.com/office/powerpoint/2010/main" val="27413385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Threshold Sensitivity Explained</a:t>
            </a:r>
          </a:p>
          <a:p>
            <a:r>
              <a:rPr lang="en-US" sz="1200" b="1" i="0" kern="1200" dirty="0">
                <a:solidFill>
                  <a:schemeClr val="tx1"/>
                </a:solidFill>
                <a:effectLst/>
                <a:latin typeface="+mn-lt"/>
                <a:ea typeface="+mn-ea"/>
                <a:cs typeface="+mn-cs"/>
              </a:rPr>
              <a:t>High Threshold (e.g., 0.9)</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Harder to trigger</a:t>
            </a:r>
            <a:r>
              <a:rPr lang="en-US" sz="1200" b="0" i="0" kern="1200" dirty="0">
                <a:solidFill>
                  <a:schemeClr val="tx1"/>
                </a:solidFill>
                <a:effectLst/>
                <a:latin typeface="+mn-lt"/>
                <a:ea typeface="+mn-ea"/>
                <a:cs typeface="+mn-cs"/>
              </a:rPr>
              <a:t> - only the most obvious anomalies pass</a:t>
            </a:r>
          </a:p>
          <a:p>
            <a:r>
              <a:rPr lang="en-US" sz="1200" b="1" i="0" kern="1200" dirty="0">
                <a:solidFill>
                  <a:schemeClr val="tx1"/>
                </a:solidFill>
                <a:effectLst/>
                <a:latin typeface="+mn-lt"/>
                <a:ea typeface="+mn-ea"/>
                <a:cs typeface="+mn-cs"/>
              </a:rPr>
              <a:t>Fewer detections</a:t>
            </a:r>
            <a:r>
              <a:rPr lang="en-US" sz="1200" b="0" i="0" kern="1200" dirty="0">
                <a:solidFill>
                  <a:schemeClr val="tx1"/>
                </a:solidFill>
                <a:effectLst/>
                <a:latin typeface="+mn-lt"/>
                <a:ea typeface="+mn-ea"/>
                <a:cs typeface="+mn-cs"/>
              </a:rPr>
              <a:t> - misses subtle attacks</a:t>
            </a:r>
          </a:p>
          <a:p>
            <a:r>
              <a:rPr lang="en-US" sz="1200" b="1" i="0" kern="1200" dirty="0">
                <a:solidFill>
                  <a:schemeClr val="tx1"/>
                </a:solidFill>
                <a:effectLst/>
                <a:latin typeface="+mn-lt"/>
                <a:ea typeface="+mn-ea"/>
                <a:cs typeface="+mn-cs"/>
              </a:rPr>
              <a:t>Higher precision</a:t>
            </a:r>
            <a:r>
              <a:rPr lang="en-US" sz="1200" b="0" i="0" kern="1200" dirty="0">
                <a:solidFill>
                  <a:schemeClr val="tx1"/>
                </a:solidFill>
                <a:effectLst/>
                <a:latin typeface="+mn-lt"/>
                <a:ea typeface="+mn-ea"/>
                <a:cs typeface="+mn-cs"/>
              </a:rPr>
              <a:t> - when it does alert, it's usually right</a:t>
            </a:r>
          </a:p>
          <a:p>
            <a:r>
              <a:rPr lang="en-US" sz="1200" b="1" i="0" kern="1200" dirty="0">
                <a:solidFill>
                  <a:schemeClr val="tx1"/>
                </a:solidFill>
                <a:effectLst/>
                <a:latin typeface="+mn-lt"/>
                <a:ea typeface="+mn-ea"/>
                <a:cs typeface="+mn-cs"/>
              </a:rPr>
              <a:t>Lower recall</a:t>
            </a:r>
            <a:r>
              <a:rPr lang="en-US" sz="1200" b="0" i="0" kern="1200" dirty="0">
                <a:solidFill>
                  <a:schemeClr val="tx1"/>
                </a:solidFill>
                <a:effectLst/>
                <a:latin typeface="+mn-lt"/>
                <a:ea typeface="+mn-ea"/>
                <a:cs typeface="+mn-cs"/>
              </a:rPr>
              <a:t> - misses many real attacks</a:t>
            </a:r>
          </a:p>
          <a:p>
            <a:r>
              <a:rPr lang="en-US" sz="1200" b="1" i="0" kern="1200" dirty="0">
                <a:solidFill>
                  <a:schemeClr val="tx1"/>
                </a:solidFill>
                <a:effectLst/>
                <a:latin typeface="+mn-lt"/>
                <a:ea typeface="+mn-ea"/>
                <a:cs typeface="+mn-cs"/>
              </a:rPr>
              <a:t>LESS SENSITIVE</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Low Threshold (e.g., 0.1)</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Easier to trigger</a:t>
            </a:r>
            <a:r>
              <a:rPr lang="en-US" sz="1200" b="0" i="0" kern="1200" dirty="0">
                <a:solidFill>
                  <a:schemeClr val="tx1"/>
                </a:solidFill>
                <a:effectLst/>
                <a:latin typeface="+mn-lt"/>
                <a:ea typeface="+mn-ea"/>
                <a:cs typeface="+mn-cs"/>
              </a:rPr>
              <a:t> - even slightly unusual behavior sets it off</a:t>
            </a:r>
          </a:p>
          <a:p>
            <a:r>
              <a:rPr lang="en-US" sz="1200" b="1" i="0" kern="1200" dirty="0">
                <a:solidFill>
                  <a:schemeClr val="tx1"/>
                </a:solidFill>
                <a:effectLst/>
                <a:latin typeface="+mn-lt"/>
                <a:ea typeface="+mn-ea"/>
                <a:cs typeface="+mn-cs"/>
              </a:rPr>
              <a:t>More detections</a:t>
            </a:r>
            <a:r>
              <a:rPr lang="en-US" sz="1200" b="0" i="0" kern="1200" dirty="0">
                <a:solidFill>
                  <a:schemeClr val="tx1"/>
                </a:solidFill>
                <a:effectLst/>
                <a:latin typeface="+mn-lt"/>
                <a:ea typeface="+mn-ea"/>
                <a:cs typeface="+mn-cs"/>
              </a:rPr>
              <a:t> - catches subtle attacks</a:t>
            </a:r>
          </a:p>
          <a:p>
            <a:r>
              <a:rPr lang="en-US" sz="1200" b="1" i="0" kern="1200" dirty="0">
                <a:solidFill>
                  <a:schemeClr val="tx1"/>
                </a:solidFill>
                <a:effectLst/>
                <a:latin typeface="+mn-lt"/>
                <a:ea typeface="+mn-ea"/>
                <a:cs typeface="+mn-cs"/>
              </a:rPr>
              <a:t>Lower precision</a:t>
            </a:r>
            <a:r>
              <a:rPr lang="en-US" sz="1200" b="0" i="0" kern="1200" dirty="0">
                <a:solidFill>
                  <a:schemeClr val="tx1"/>
                </a:solidFill>
                <a:effectLst/>
                <a:latin typeface="+mn-lt"/>
                <a:ea typeface="+mn-ea"/>
                <a:cs typeface="+mn-cs"/>
              </a:rPr>
              <a:t> - more false alarms</a:t>
            </a:r>
          </a:p>
          <a:p>
            <a:r>
              <a:rPr lang="en-US" sz="1200" b="1" i="0" kern="1200" dirty="0">
                <a:solidFill>
                  <a:schemeClr val="tx1"/>
                </a:solidFill>
                <a:effectLst/>
                <a:latin typeface="+mn-lt"/>
                <a:ea typeface="+mn-ea"/>
                <a:cs typeface="+mn-cs"/>
              </a:rPr>
              <a:t>Higher recall</a:t>
            </a:r>
            <a:r>
              <a:rPr lang="en-US" sz="1200" b="0" i="0" kern="1200" dirty="0">
                <a:solidFill>
                  <a:schemeClr val="tx1"/>
                </a:solidFill>
                <a:effectLst/>
                <a:latin typeface="+mn-lt"/>
                <a:ea typeface="+mn-ea"/>
                <a:cs typeface="+mn-cs"/>
              </a:rPr>
              <a:t> - catches most real attacks</a:t>
            </a:r>
          </a:p>
          <a:p>
            <a:r>
              <a:rPr lang="en-US" sz="1200" b="1" i="0" kern="1200" dirty="0">
                <a:solidFill>
                  <a:schemeClr val="tx1"/>
                </a:solidFill>
                <a:effectLst/>
                <a:latin typeface="+mn-lt"/>
                <a:ea typeface="+mn-ea"/>
                <a:cs typeface="+mn-cs"/>
              </a:rPr>
              <a:t>MORE SENSITIVE</a:t>
            </a:r>
            <a:endParaRPr lang="en-US" sz="1200" b="0" i="0" kern="1200" dirty="0">
              <a:solidFill>
                <a:schemeClr val="tx1"/>
              </a:solidFill>
              <a:effectLst/>
              <a:latin typeface="+mn-lt"/>
              <a:ea typeface="+mn-ea"/>
              <a:cs typeface="+mn-cs"/>
            </a:endParaRPr>
          </a:p>
          <a:p>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21</a:t>
            </a:fld>
            <a:endParaRPr lang="en-NZ"/>
          </a:p>
        </p:txBody>
      </p:sp>
    </p:spTree>
    <p:extLst>
      <p:ext uri="{BB962C8B-B14F-4D97-AF65-F5344CB8AC3E}">
        <p14:creationId xmlns:p14="http://schemas.microsoft.com/office/powerpoint/2010/main" val="34980581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Accuracy = Total Correct Predictions ÷ Total Predictions</a:t>
            </a:r>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22</a:t>
            </a:fld>
            <a:endParaRPr lang="en-NZ"/>
          </a:p>
        </p:txBody>
      </p:sp>
    </p:spTree>
    <p:extLst>
      <p:ext uri="{BB962C8B-B14F-4D97-AF65-F5344CB8AC3E}">
        <p14:creationId xmlns:p14="http://schemas.microsoft.com/office/powerpoint/2010/main" val="3444565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The Big Takeaway:</a:t>
            </a:r>
            <a:r>
              <a:rPr lang="en-US" sz="1200" b="0" i="0" kern="1200" dirty="0">
                <a:solidFill>
                  <a:schemeClr val="tx1"/>
                </a:solidFill>
                <a:effectLst/>
                <a:latin typeface="+mn-lt"/>
                <a:ea typeface="+mn-ea"/>
                <a:cs typeface="+mn-cs"/>
              </a:rPr>
              <a:t> Threshold optimization isn't optional - it's what makes these models actually useful for real-world security.</a:t>
            </a:r>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26</a:t>
            </a:fld>
            <a:endParaRPr lang="en-NZ"/>
          </a:p>
        </p:txBody>
      </p:sp>
    </p:spTree>
    <p:extLst>
      <p:ext uri="{BB962C8B-B14F-4D97-AF65-F5344CB8AC3E}">
        <p14:creationId xmlns:p14="http://schemas.microsoft.com/office/powerpoint/2010/main" val="9256978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You've probably heard the saying 'know thy enemy.' Well, the reverse is also true. By publishing how our detection models work, we also provide a blueprint for attackers. They can use this information to study the models' weaknesses and craft new attacks that are specifically designed to fly under the radar, effectively making their malware or intrusions more stealthy. This is a fundamental tension in security research that we must acknowledge.</a:t>
            </a:r>
            <a:endParaRPr lang="en-NZ" dirty="0"/>
          </a:p>
        </p:txBody>
      </p:sp>
      <p:sp>
        <p:nvSpPr>
          <p:cNvPr id="4" name="Slide Number Placeholder 3"/>
          <p:cNvSpPr>
            <a:spLocks noGrp="1"/>
          </p:cNvSpPr>
          <p:nvPr>
            <p:ph type="sldNum" sz="quarter" idx="5"/>
          </p:nvPr>
        </p:nvSpPr>
        <p:spPr/>
        <p:txBody>
          <a:bodyPr/>
          <a:lstStyle/>
          <a:p>
            <a:fld id="{FABE5E2C-5F7F-484F-BFFF-757AF484147D}" type="slidenum">
              <a:rPr lang="en-NZ" smtClean="0"/>
              <a:t>34</a:t>
            </a:fld>
            <a:endParaRPr lang="en-NZ"/>
          </a:p>
        </p:txBody>
      </p:sp>
    </p:spTree>
    <p:extLst>
      <p:ext uri="{BB962C8B-B14F-4D97-AF65-F5344CB8AC3E}">
        <p14:creationId xmlns:p14="http://schemas.microsoft.com/office/powerpoint/2010/main" val="422443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32149C-0023-4142-BE15-208D10B91605}" type="datetimeFigureOut">
              <a:rPr lang="en-NZ" smtClean="0"/>
              <a:t>20/10/2025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35C5238-3A49-4FB0-B261-E460128437FE}" type="slidenum">
              <a:rPr lang="en-NZ" smtClean="0"/>
              <a:t>‹#›</a:t>
            </a:fld>
            <a:endParaRPr lang="en-NZ"/>
          </a:p>
        </p:txBody>
      </p:sp>
    </p:spTree>
    <p:extLst>
      <p:ext uri="{BB962C8B-B14F-4D97-AF65-F5344CB8AC3E}">
        <p14:creationId xmlns:p14="http://schemas.microsoft.com/office/powerpoint/2010/main" val="2396040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32149C-0023-4142-BE15-208D10B91605}" type="datetimeFigureOut">
              <a:rPr lang="en-NZ" smtClean="0"/>
              <a:t>20/10/2025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35C5238-3A49-4FB0-B261-E460128437FE}" type="slidenum">
              <a:rPr lang="en-NZ" smtClean="0"/>
              <a:t>‹#›</a:t>
            </a:fld>
            <a:endParaRPr lang="en-NZ"/>
          </a:p>
        </p:txBody>
      </p:sp>
    </p:spTree>
    <p:extLst>
      <p:ext uri="{BB962C8B-B14F-4D97-AF65-F5344CB8AC3E}">
        <p14:creationId xmlns:p14="http://schemas.microsoft.com/office/powerpoint/2010/main" val="535431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32149C-0023-4142-BE15-208D10B91605}" type="datetimeFigureOut">
              <a:rPr lang="en-NZ" smtClean="0"/>
              <a:t>20/10/2025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35C5238-3A49-4FB0-B261-E460128437FE}" type="slidenum">
              <a:rPr lang="en-NZ" smtClean="0"/>
              <a:t>‹#›</a:t>
            </a:fld>
            <a:endParaRPr lang="en-NZ"/>
          </a:p>
        </p:txBody>
      </p:sp>
    </p:spTree>
    <p:extLst>
      <p:ext uri="{BB962C8B-B14F-4D97-AF65-F5344CB8AC3E}">
        <p14:creationId xmlns:p14="http://schemas.microsoft.com/office/powerpoint/2010/main" val="3249070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32149C-0023-4142-BE15-208D10B91605}" type="datetimeFigureOut">
              <a:rPr lang="en-NZ" smtClean="0"/>
              <a:t>20/10/2025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035C5238-3A49-4FB0-B261-E460128437FE}" type="slidenum">
              <a:rPr lang="en-NZ" smtClean="0"/>
              <a:t>‹#›</a:t>
            </a:fld>
            <a:endParaRPr lang="en-NZ"/>
          </a:p>
        </p:txBody>
      </p:sp>
    </p:spTree>
    <p:extLst>
      <p:ext uri="{BB962C8B-B14F-4D97-AF65-F5344CB8AC3E}">
        <p14:creationId xmlns:p14="http://schemas.microsoft.com/office/powerpoint/2010/main" val="2947127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32149C-0023-4142-BE15-208D10B91605}" type="datetimeFigureOut">
              <a:rPr lang="en-NZ" smtClean="0"/>
              <a:t>20/10/2025</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035C5238-3A49-4FB0-B261-E460128437FE}" type="slidenum">
              <a:rPr lang="en-NZ" smtClean="0"/>
              <a:t>‹#›</a:t>
            </a:fld>
            <a:endParaRPr lang="en-NZ"/>
          </a:p>
        </p:txBody>
      </p:sp>
    </p:spTree>
    <p:extLst>
      <p:ext uri="{BB962C8B-B14F-4D97-AF65-F5344CB8AC3E}">
        <p14:creationId xmlns:p14="http://schemas.microsoft.com/office/powerpoint/2010/main" val="1081749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32149C-0023-4142-BE15-208D10B91605}" type="datetimeFigureOut">
              <a:rPr lang="en-NZ" smtClean="0"/>
              <a:t>20/10/2025</a:t>
            </a:fld>
            <a:endParaRPr lang="en-NZ"/>
          </a:p>
        </p:txBody>
      </p:sp>
      <p:sp>
        <p:nvSpPr>
          <p:cNvPr id="4" name="Footer Placeholder 3"/>
          <p:cNvSpPr>
            <a:spLocks noGrp="1"/>
          </p:cNvSpPr>
          <p:nvPr>
            <p:ph type="ftr" sz="quarter" idx="11"/>
          </p:nvPr>
        </p:nvSpPr>
        <p:spPr/>
        <p:txBody>
          <a:bodyPr/>
          <a:lstStyle/>
          <a:p>
            <a:endParaRPr lang="en-NZ"/>
          </a:p>
        </p:txBody>
      </p:sp>
      <p:sp>
        <p:nvSpPr>
          <p:cNvPr id="5" name="Slide Number Placeholder 4"/>
          <p:cNvSpPr>
            <a:spLocks noGrp="1"/>
          </p:cNvSpPr>
          <p:nvPr>
            <p:ph type="sldNum" sz="quarter" idx="12"/>
          </p:nvPr>
        </p:nvSpPr>
        <p:spPr/>
        <p:txBody>
          <a:bodyPr/>
          <a:lstStyle/>
          <a:p>
            <a:fld id="{035C5238-3A49-4FB0-B261-E460128437FE}" type="slidenum">
              <a:rPr lang="en-NZ" smtClean="0"/>
              <a:t>‹#›</a:t>
            </a:fld>
            <a:endParaRPr lang="en-NZ"/>
          </a:p>
        </p:txBody>
      </p:sp>
    </p:spTree>
    <p:extLst>
      <p:ext uri="{BB962C8B-B14F-4D97-AF65-F5344CB8AC3E}">
        <p14:creationId xmlns:p14="http://schemas.microsoft.com/office/powerpoint/2010/main" val="3433309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32149C-0023-4142-BE15-208D10B91605}" type="datetimeFigureOut">
              <a:rPr lang="en-NZ" smtClean="0"/>
              <a:t>20/10/2025</a:t>
            </a:fld>
            <a:endParaRPr lang="en-NZ"/>
          </a:p>
        </p:txBody>
      </p:sp>
      <p:sp>
        <p:nvSpPr>
          <p:cNvPr id="3" name="Footer Placeholder 2"/>
          <p:cNvSpPr>
            <a:spLocks noGrp="1"/>
          </p:cNvSpPr>
          <p:nvPr>
            <p:ph type="ftr" sz="quarter" idx="11"/>
          </p:nvPr>
        </p:nvSpPr>
        <p:spPr/>
        <p:txBody>
          <a:bodyPr/>
          <a:lstStyle/>
          <a:p>
            <a:endParaRPr lang="en-NZ"/>
          </a:p>
        </p:txBody>
      </p:sp>
      <p:sp>
        <p:nvSpPr>
          <p:cNvPr id="4" name="Slide Number Placeholder 3"/>
          <p:cNvSpPr>
            <a:spLocks noGrp="1"/>
          </p:cNvSpPr>
          <p:nvPr>
            <p:ph type="sldNum" sz="quarter" idx="12"/>
          </p:nvPr>
        </p:nvSpPr>
        <p:spPr/>
        <p:txBody>
          <a:bodyPr/>
          <a:lstStyle/>
          <a:p>
            <a:fld id="{035C5238-3A49-4FB0-B261-E460128437FE}" type="slidenum">
              <a:rPr lang="en-NZ" smtClean="0"/>
              <a:t>‹#›</a:t>
            </a:fld>
            <a:endParaRPr lang="en-NZ"/>
          </a:p>
        </p:txBody>
      </p:sp>
    </p:spTree>
    <p:extLst>
      <p:ext uri="{BB962C8B-B14F-4D97-AF65-F5344CB8AC3E}">
        <p14:creationId xmlns:p14="http://schemas.microsoft.com/office/powerpoint/2010/main" val="3061610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32149C-0023-4142-BE15-208D10B91605}" type="datetimeFigureOut">
              <a:rPr lang="en-NZ" smtClean="0"/>
              <a:t>20/10/2025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035C5238-3A49-4FB0-B261-E460128437FE}" type="slidenum">
              <a:rPr lang="en-NZ" smtClean="0"/>
              <a:t>‹#›</a:t>
            </a:fld>
            <a:endParaRPr lang="en-NZ"/>
          </a:p>
        </p:txBody>
      </p:sp>
    </p:spTree>
    <p:extLst>
      <p:ext uri="{BB962C8B-B14F-4D97-AF65-F5344CB8AC3E}">
        <p14:creationId xmlns:p14="http://schemas.microsoft.com/office/powerpoint/2010/main" val="3189348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32149C-0023-4142-BE15-208D10B91605}" type="datetimeFigureOut">
              <a:rPr lang="en-NZ" smtClean="0"/>
              <a:t>20/10/2025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035C5238-3A49-4FB0-B261-E460128437FE}" type="slidenum">
              <a:rPr lang="en-NZ" smtClean="0"/>
              <a:t>‹#›</a:t>
            </a:fld>
            <a:endParaRPr lang="en-NZ"/>
          </a:p>
        </p:txBody>
      </p:sp>
    </p:spTree>
    <p:extLst>
      <p:ext uri="{BB962C8B-B14F-4D97-AF65-F5344CB8AC3E}">
        <p14:creationId xmlns:p14="http://schemas.microsoft.com/office/powerpoint/2010/main" val="3140480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32149C-0023-4142-BE15-208D10B91605}" type="datetimeFigureOut">
              <a:rPr lang="en-NZ" smtClean="0"/>
              <a:t>20/10/2025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35C5238-3A49-4FB0-B261-E460128437FE}" type="slidenum">
              <a:rPr lang="en-NZ" smtClean="0"/>
              <a:t>‹#›</a:t>
            </a:fld>
            <a:endParaRPr lang="en-NZ"/>
          </a:p>
        </p:txBody>
      </p:sp>
    </p:spTree>
    <p:extLst>
      <p:ext uri="{BB962C8B-B14F-4D97-AF65-F5344CB8AC3E}">
        <p14:creationId xmlns:p14="http://schemas.microsoft.com/office/powerpoint/2010/main" val="3669355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32149C-0023-4142-BE15-208D10B91605}" type="datetimeFigureOut">
              <a:rPr lang="en-NZ" smtClean="0"/>
              <a:t>20/10/2025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35C5238-3A49-4FB0-B261-E460128437FE}" type="slidenum">
              <a:rPr lang="en-NZ" smtClean="0"/>
              <a:t>‹#›</a:t>
            </a:fld>
            <a:endParaRPr lang="en-NZ"/>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2257101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32149C-0023-4142-BE15-208D10B91605}" type="datetimeFigureOut">
              <a:rPr lang="en-NZ" smtClean="0"/>
              <a:t>20/10/2025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35C5238-3A49-4FB0-B261-E460128437FE}" type="slidenum">
              <a:rPr lang="en-NZ" smtClean="0"/>
              <a:t>‹#›</a:t>
            </a:fld>
            <a:endParaRPr lang="en-NZ"/>
          </a:p>
        </p:txBody>
      </p:sp>
    </p:spTree>
    <p:extLst>
      <p:ext uri="{BB962C8B-B14F-4D97-AF65-F5344CB8AC3E}">
        <p14:creationId xmlns:p14="http://schemas.microsoft.com/office/powerpoint/2010/main" val="2817033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32149C-0023-4142-BE15-208D10B91605}" type="datetimeFigureOut">
              <a:rPr lang="en-NZ" smtClean="0"/>
              <a:t>20/10/2025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35C5238-3A49-4FB0-B261-E460128437FE}" type="slidenum">
              <a:rPr lang="en-NZ" smtClean="0"/>
              <a:t>‹#›</a:t>
            </a:fld>
            <a:endParaRPr lang="en-NZ"/>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45198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32149C-0023-4142-BE15-208D10B91605}" type="datetimeFigureOut">
              <a:rPr lang="en-NZ" smtClean="0"/>
              <a:t>20/10/2025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35C5238-3A49-4FB0-B261-E460128437FE}" type="slidenum">
              <a:rPr lang="en-NZ" smtClean="0"/>
              <a:t>‹#›</a:t>
            </a:fld>
            <a:endParaRPr lang="en-NZ"/>
          </a:p>
        </p:txBody>
      </p:sp>
    </p:spTree>
    <p:extLst>
      <p:ext uri="{BB962C8B-B14F-4D97-AF65-F5344CB8AC3E}">
        <p14:creationId xmlns:p14="http://schemas.microsoft.com/office/powerpoint/2010/main" val="9829772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32149C-0023-4142-BE15-208D10B91605}" type="datetimeFigureOut">
              <a:rPr lang="en-NZ" smtClean="0"/>
              <a:t>20/10/2025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35C5238-3A49-4FB0-B261-E460128437FE}" type="slidenum">
              <a:rPr lang="en-NZ" smtClean="0"/>
              <a:t>‹#›</a:t>
            </a:fld>
            <a:endParaRPr lang="en-NZ"/>
          </a:p>
        </p:txBody>
      </p:sp>
    </p:spTree>
    <p:extLst>
      <p:ext uri="{BB962C8B-B14F-4D97-AF65-F5344CB8AC3E}">
        <p14:creationId xmlns:p14="http://schemas.microsoft.com/office/powerpoint/2010/main" val="6076307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32149C-0023-4142-BE15-208D10B91605}" type="datetimeFigureOut">
              <a:rPr lang="en-NZ" smtClean="0"/>
              <a:t>20/10/2025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35C5238-3A49-4FB0-B261-E460128437FE}" type="slidenum">
              <a:rPr lang="en-NZ" smtClean="0"/>
              <a:t>‹#›</a:t>
            </a:fld>
            <a:endParaRPr lang="en-NZ"/>
          </a:p>
        </p:txBody>
      </p:sp>
    </p:spTree>
    <p:extLst>
      <p:ext uri="{BB962C8B-B14F-4D97-AF65-F5344CB8AC3E}">
        <p14:creationId xmlns:p14="http://schemas.microsoft.com/office/powerpoint/2010/main" val="89036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832149C-0023-4142-BE15-208D10B91605}" type="datetimeFigureOut">
              <a:rPr lang="en-NZ" smtClean="0"/>
              <a:t>20/10/2025</a:t>
            </a:fld>
            <a:endParaRPr lang="en-NZ"/>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NZ"/>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35C5238-3A49-4FB0-B261-E460128437FE}" type="slidenum">
              <a:rPr lang="en-NZ" smtClean="0"/>
              <a:t>‹#›</a:t>
            </a:fld>
            <a:endParaRPr lang="en-NZ"/>
          </a:p>
        </p:txBody>
      </p:sp>
    </p:spTree>
    <p:extLst>
      <p:ext uri="{BB962C8B-B14F-4D97-AF65-F5344CB8AC3E}">
        <p14:creationId xmlns:p14="http://schemas.microsoft.com/office/powerpoint/2010/main" val="4148442310"/>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 id="2147483930" r:id="rId11"/>
    <p:sldLayoutId id="2147483931" r:id="rId12"/>
    <p:sldLayoutId id="2147483932" r:id="rId13"/>
    <p:sldLayoutId id="2147483933" r:id="rId14"/>
    <p:sldLayoutId id="2147483934" r:id="rId15"/>
    <p:sldLayoutId id="214748393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kaggle.com/datasets/chethuhn/network-intrusion-dataset"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github.com/adwanis/AIML339-anomaly-detection"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3842B-7836-3D2F-EFFD-75683FAB27FA}"/>
              </a:ext>
            </a:extLst>
          </p:cNvPr>
          <p:cNvSpPr>
            <a:spLocks noGrp="1"/>
          </p:cNvSpPr>
          <p:nvPr>
            <p:ph type="ctrTitle"/>
          </p:nvPr>
        </p:nvSpPr>
        <p:spPr/>
        <p:txBody>
          <a:bodyPr>
            <a:normAutofit fontScale="90000"/>
          </a:bodyPr>
          <a:lstStyle/>
          <a:p>
            <a:r>
              <a:rPr lang="en-NZ" dirty="0"/>
              <a:t>Deep Learning for Anomaly Detection in Cybersecurity</a:t>
            </a:r>
          </a:p>
        </p:txBody>
      </p:sp>
      <p:sp>
        <p:nvSpPr>
          <p:cNvPr id="3" name="Subtitle 2">
            <a:extLst>
              <a:ext uri="{FF2B5EF4-FFF2-40B4-BE49-F238E27FC236}">
                <a16:creationId xmlns:a16="http://schemas.microsoft.com/office/drawing/2014/main" id="{D05B9163-39BA-7E7A-27D9-91951B964B8F}"/>
              </a:ext>
            </a:extLst>
          </p:cNvPr>
          <p:cNvSpPr>
            <a:spLocks noGrp="1"/>
          </p:cNvSpPr>
          <p:nvPr>
            <p:ph type="subTitle" idx="1"/>
          </p:nvPr>
        </p:nvSpPr>
        <p:spPr/>
        <p:txBody>
          <a:bodyPr>
            <a:normAutofit lnSpcReduction="10000"/>
          </a:bodyPr>
          <a:lstStyle/>
          <a:p>
            <a:r>
              <a:rPr lang="en-NZ" dirty="0"/>
              <a:t>AIML339</a:t>
            </a:r>
          </a:p>
          <a:p>
            <a:r>
              <a:rPr lang="en-NZ" dirty="0"/>
              <a:t>22/10/2025</a:t>
            </a:r>
          </a:p>
          <a:p>
            <a:r>
              <a:rPr lang="en-NZ" dirty="0"/>
              <a:t>By Sahil Adwani</a:t>
            </a:r>
          </a:p>
          <a:p>
            <a:endParaRPr lang="en-NZ" dirty="0"/>
          </a:p>
        </p:txBody>
      </p:sp>
    </p:spTree>
    <p:extLst>
      <p:ext uri="{BB962C8B-B14F-4D97-AF65-F5344CB8AC3E}">
        <p14:creationId xmlns:p14="http://schemas.microsoft.com/office/powerpoint/2010/main" val="4207952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4A878-4992-F838-6336-633836AC6BA0}"/>
              </a:ext>
            </a:extLst>
          </p:cNvPr>
          <p:cNvSpPr>
            <a:spLocks noGrp="1"/>
          </p:cNvSpPr>
          <p:nvPr>
            <p:ph type="title"/>
          </p:nvPr>
        </p:nvSpPr>
        <p:spPr>
          <a:xfrm>
            <a:off x="572493" y="238539"/>
            <a:ext cx="11018520" cy="1434415"/>
          </a:xfrm>
        </p:spPr>
        <p:txBody>
          <a:bodyPr anchor="b">
            <a:normAutofit/>
          </a:bodyPr>
          <a:lstStyle/>
          <a:p>
            <a:r>
              <a:rPr lang="en-NZ" sz="5400" dirty="0"/>
              <a:t>Motivation</a:t>
            </a:r>
          </a:p>
        </p:txBody>
      </p:sp>
      <p:sp>
        <p:nvSpPr>
          <p:cNvPr id="3" name="Content Placeholder 2">
            <a:extLst>
              <a:ext uri="{FF2B5EF4-FFF2-40B4-BE49-F238E27FC236}">
                <a16:creationId xmlns:a16="http://schemas.microsoft.com/office/drawing/2014/main" id="{666E1E69-A24F-993D-CBED-FFBEE5A7B7DD}"/>
              </a:ext>
            </a:extLst>
          </p:cNvPr>
          <p:cNvSpPr>
            <a:spLocks noGrp="1"/>
          </p:cNvSpPr>
          <p:nvPr>
            <p:ph idx="1"/>
          </p:nvPr>
        </p:nvSpPr>
        <p:spPr>
          <a:xfrm>
            <a:off x="572494" y="2071316"/>
            <a:ext cx="8764012" cy="4119172"/>
          </a:xfrm>
        </p:spPr>
        <p:txBody>
          <a:bodyPr anchor="t">
            <a:normAutofit fontScale="92500" lnSpcReduction="10000"/>
          </a:bodyPr>
          <a:lstStyle/>
          <a:p>
            <a:r>
              <a:rPr lang="en-US" sz="2200" b="1" dirty="0"/>
              <a:t>Why anomaly detection is important in cybersecurity?</a:t>
            </a:r>
            <a:endParaRPr lang="en-US" sz="2200" dirty="0"/>
          </a:p>
          <a:p>
            <a:pPr lvl="1"/>
            <a:r>
              <a:rPr lang="en-US" sz="2000" dirty="0"/>
              <a:t>In 2024, cyber threats grew sharply with 31% more reported vulnerabilities and 20% more active attacks. This means it’s getting easier for hackers to find ways in.</a:t>
            </a:r>
          </a:p>
          <a:p>
            <a:pPr lvl="1"/>
            <a:r>
              <a:rPr lang="en-US" sz="2000" dirty="0"/>
              <a:t>Detecting unusual patterns like a sudden spike in traffic or unauthorized access is critical to stopping threats.</a:t>
            </a:r>
          </a:p>
          <a:p>
            <a:r>
              <a:rPr lang="en-US" sz="2200" b="1" dirty="0"/>
              <a:t>Why traditional systems fall short?</a:t>
            </a:r>
            <a:endParaRPr lang="en-US" sz="2200" dirty="0"/>
          </a:p>
          <a:p>
            <a:pPr lvl="1"/>
            <a:r>
              <a:rPr lang="en-US" sz="2000" dirty="0"/>
              <a:t>Traditional systems often rely on known signatures or manual rules, which fail to catch new or subtle attacks. </a:t>
            </a:r>
          </a:p>
          <a:p>
            <a:r>
              <a:rPr lang="en-US" sz="2200" b="1" dirty="0"/>
              <a:t>The solution: Anomaly detection </a:t>
            </a:r>
          </a:p>
          <a:p>
            <a:pPr lvl="1"/>
            <a:r>
              <a:rPr lang="en-US" sz="2000" dirty="0"/>
              <a:t>learns patterns of normal behavior and flags anything that doesn’t fit,  making it well-suited for detecting new or evolving cyber threats.</a:t>
            </a:r>
            <a:endParaRPr lang="en-NZ" sz="2000" dirty="0"/>
          </a:p>
        </p:txBody>
      </p:sp>
    </p:spTree>
    <p:extLst>
      <p:ext uri="{BB962C8B-B14F-4D97-AF65-F5344CB8AC3E}">
        <p14:creationId xmlns:p14="http://schemas.microsoft.com/office/powerpoint/2010/main" val="444475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218CA-2D5F-7108-0CC9-4E48473825DF}"/>
              </a:ext>
            </a:extLst>
          </p:cNvPr>
          <p:cNvSpPr>
            <a:spLocks noGrp="1"/>
          </p:cNvSpPr>
          <p:nvPr>
            <p:ph type="title"/>
          </p:nvPr>
        </p:nvSpPr>
        <p:spPr/>
        <p:txBody>
          <a:bodyPr>
            <a:normAutofit/>
          </a:bodyPr>
          <a:lstStyle/>
          <a:p>
            <a:r>
              <a:rPr lang="en-NZ" sz="5400" dirty="0"/>
              <a:t>Motivation</a:t>
            </a:r>
          </a:p>
        </p:txBody>
      </p:sp>
      <p:sp>
        <p:nvSpPr>
          <p:cNvPr id="3" name="Content Placeholder 2">
            <a:extLst>
              <a:ext uri="{FF2B5EF4-FFF2-40B4-BE49-F238E27FC236}">
                <a16:creationId xmlns:a16="http://schemas.microsoft.com/office/drawing/2014/main" id="{F474F924-C0D4-E93A-4C46-52F0C2D84316}"/>
              </a:ext>
            </a:extLst>
          </p:cNvPr>
          <p:cNvSpPr>
            <a:spLocks noGrp="1"/>
          </p:cNvSpPr>
          <p:nvPr>
            <p:ph idx="1"/>
          </p:nvPr>
        </p:nvSpPr>
        <p:spPr/>
        <p:txBody>
          <a:bodyPr>
            <a:noAutofit/>
          </a:bodyPr>
          <a:lstStyle/>
          <a:p>
            <a:r>
              <a:rPr lang="en-US" sz="2000" b="1" dirty="0"/>
              <a:t>Why use only normal data to train?</a:t>
            </a:r>
          </a:p>
          <a:p>
            <a:pPr lvl="1"/>
            <a:r>
              <a:rPr lang="en-US" sz="2000" dirty="0"/>
              <a:t>In real-world cybersecurity, you have plenty of normal data. But labeled attack data is rare, unlabeled, or unknown.</a:t>
            </a:r>
          </a:p>
          <a:p>
            <a:pPr lvl="1"/>
            <a:endParaRPr lang="en-US" sz="2000" dirty="0"/>
          </a:p>
          <a:p>
            <a:pPr lvl="1"/>
            <a:r>
              <a:rPr lang="en-US" sz="2000" dirty="0"/>
              <a:t>These models are designed to learn the normal behavior of a system and then detect anything that deviates from it as an anomaly.</a:t>
            </a:r>
          </a:p>
          <a:p>
            <a:pPr lvl="1"/>
            <a:endParaRPr lang="en-US" sz="2000" dirty="0"/>
          </a:p>
          <a:p>
            <a:pPr lvl="1"/>
            <a:r>
              <a:rPr lang="en-US" sz="2000" dirty="0"/>
              <a:t>This approach  is practical and scalable because it doesn't require examples of every possible attack. Hence model can detect unseen attacks.</a:t>
            </a:r>
            <a:endParaRPr lang="en-NZ" sz="2000" dirty="0"/>
          </a:p>
        </p:txBody>
      </p:sp>
    </p:spTree>
    <p:extLst>
      <p:ext uri="{BB962C8B-B14F-4D97-AF65-F5344CB8AC3E}">
        <p14:creationId xmlns:p14="http://schemas.microsoft.com/office/powerpoint/2010/main" val="991949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D4636-DCA4-0A31-EB5C-1360FFB82E7C}"/>
              </a:ext>
            </a:extLst>
          </p:cNvPr>
          <p:cNvSpPr>
            <a:spLocks noGrp="1"/>
          </p:cNvSpPr>
          <p:nvPr>
            <p:ph type="title"/>
          </p:nvPr>
        </p:nvSpPr>
        <p:spPr>
          <a:xfrm>
            <a:off x="572493" y="238539"/>
            <a:ext cx="11018520" cy="1434415"/>
          </a:xfrm>
        </p:spPr>
        <p:txBody>
          <a:bodyPr anchor="b">
            <a:normAutofit/>
          </a:bodyPr>
          <a:lstStyle/>
          <a:p>
            <a:r>
              <a:rPr lang="en-NZ" sz="5400" dirty="0"/>
              <a:t>Motivation</a:t>
            </a:r>
          </a:p>
        </p:txBody>
      </p:sp>
      <p:sp>
        <p:nvSpPr>
          <p:cNvPr id="3" name="Content Placeholder 2">
            <a:extLst>
              <a:ext uri="{FF2B5EF4-FFF2-40B4-BE49-F238E27FC236}">
                <a16:creationId xmlns:a16="http://schemas.microsoft.com/office/drawing/2014/main" id="{0A1B4BC7-B7CE-A155-39F4-63C1C8873737}"/>
              </a:ext>
            </a:extLst>
          </p:cNvPr>
          <p:cNvSpPr>
            <a:spLocks noGrp="1"/>
          </p:cNvSpPr>
          <p:nvPr>
            <p:ph idx="1"/>
          </p:nvPr>
        </p:nvSpPr>
        <p:spPr>
          <a:xfrm>
            <a:off x="572493" y="2071316"/>
            <a:ext cx="6713552" cy="4119172"/>
          </a:xfrm>
        </p:spPr>
        <p:txBody>
          <a:bodyPr anchor="t">
            <a:normAutofit fontScale="92500"/>
          </a:bodyPr>
          <a:lstStyle/>
          <a:p>
            <a:r>
              <a:rPr lang="en-NZ" sz="2200" b="1" dirty="0"/>
              <a:t>Why deep learning methods instead of traditional machine learning methods?</a:t>
            </a:r>
          </a:p>
          <a:p>
            <a:pPr marL="457200" lvl="1" indent="0">
              <a:buNone/>
            </a:pPr>
            <a:endParaRPr lang="en-NZ" sz="2200" dirty="0"/>
          </a:p>
          <a:p>
            <a:pPr lvl="1"/>
            <a:r>
              <a:rPr lang="en-NZ" sz="2200" dirty="0"/>
              <a:t>Traditional ML methods require manual feature engineering, struggle with high dimensional or complex data and may miss subtle attacks</a:t>
            </a:r>
          </a:p>
          <a:p>
            <a:pPr lvl="1"/>
            <a:endParaRPr lang="en-NZ" sz="2200" dirty="0"/>
          </a:p>
          <a:p>
            <a:pPr lvl="1"/>
            <a:r>
              <a:rPr lang="en-NZ" sz="2200" dirty="0"/>
              <a:t>Deep Learning methods learn patterns automatically from raw data, handles large, noisy, complex datasets and better at detecting evolving or unknown threats.</a:t>
            </a:r>
          </a:p>
        </p:txBody>
      </p:sp>
      <p:pic>
        <p:nvPicPr>
          <p:cNvPr id="4102" name="Picture 6" descr="Comparison between deep learning and machine learning. | Download  Scientific Diagram">
            <a:extLst>
              <a:ext uri="{FF2B5EF4-FFF2-40B4-BE49-F238E27FC236}">
                <a16:creationId xmlns:a16="http://schemas.microsoft.com/office/drawing/2014/main" id="{B3C0E960-F2F7-1192-E63D-998E912C80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8626" y="1672954"/>
            <a:ext cx="4873374" cy="3142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3947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8FA95-4210-3F47-ACF9-87B2CD4268C5}"/>
              </a:ext>
            </a:extLst>
          </p:cNvPr>
          <p:cNvSpPr>
            <a:spLocks noGrp="1"/>
          </p:cNvSpPr>
          <p:nvPr>
            <p:ph type="title"/>
          </p:nvPr>
        </p:nvSpPr>
        <p:spPr/>
        <p:txBody>
          <a:bodyPr>
            <a:noAutofit/>
          </a:bodyPr>
          <a:lstStyle/>
          <a:p>
            <a:r>
              <a:rPr lang="en-NZ" dirty="0"/>
              <a:t>Research Background and Contribution</a:t>
            </a:r>
          </a:p>
        </p:txBody>
      </p:sp>
      <p:sp>
        <p:nvSpPr>
          <p:cNvPr id="3" name="Content Placeholder 2">
            <a:extLst>
              <a:ext uri="{FF2B5EF4-FFF2-40B4-BE49-F238E27FC236}">
                <a16:creationId xmlns:a16="http://schemas.microsoft.com/office/drawing/2014/main" id="{2E935343-D372-94FF-6ED8-4B2F6B039E5F}"/>
              </a:ext>
            </a:extLst>
          </p:cNvPr>
          <p:cNvSpPr>
            <a:spLocks noGrp="1"/>
          </p:cNvSpPr>
          <p:nvPr>
            <p:ph idx="1"/>
          </p:nvPr>
        </p:nvSpPr>
        <p:spPr/>
        <p:txBody>
          <a:bodyPr>
            <a:normAutofit/>
          </a:bodyPr>
          <a:lstStyle/>
          <a:p>
            <a:r>
              <a:rPr lang="en-US" sz="2000" dirty="0"/>
              <a:t>Although deep learning-based anomaly detection is a promising approach, its use in cybersecurity applications is still underexplored.</a:t>
            </a:r>
          </a:p>
          <a:p>
            <a:endParaRPr lang="en-US" sz="2000" dirty="0"/>
          </a:p>
          <a:p>
            <a:r>
              <a:rPr lang="en-US" sz="2000" dirty="0"/>
              <a:t>Most existing studies have tested deep learning models on image-based datasets, not on structured cybersecurity data.</a:t>
            </a:r>
          </a:p>
          <a:p>
            <a:endParaRPr lang="en-US" sz="2000" dirty="0"/>
          </a:p>
          <a:p>
            <a:r>
              <a:rPr lang="en-US" sz="2000" dirty="0"/>
              <a:t>This project helps fill that gap by testing and comparing deep learning models on a real-world cybersecurity dataset, and provides practical insights and reproducible steps others can follow.</a:t>
            </a:r>
            <a:endParaRPr lang="en-NZ" sz="2000" dirty="0"/>
          </a:p>
        </p:txBody>
      </p:sp>
    </p:spTree>
    <p:extLst>
      <p:ext uri="{BB962C8B-B14F-4D97-AF65-F5344CB8AC3E}">
        <p14:creationId xmlns:p14="http://schemas.microsoft.com/office/powerpoint/2010/main" val="2717189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5B2458-9850-581B-46F6-4CC669950AB7}"/>
              </a:ext>
            </a:extLst>
          </p:cNvPr>
          <p:cNvSpPr>
            <a:spLocks noGrp="1"/>
          </p:cNvSpPr>
          <p:nvPr>
            <p:ph idx="1"/>
          </p:nvPr>
        </p:nvSpPr>
        <p:spPr/>
        <p:txBody>
          <a:bodyPr/>
          <a:lstStyle/>
          <a:p>
            <a:r>
              <a:rPr lang="en-US" sz="2000" b="1" dirty="0"/>
              <a:t>Goal</a:t>
            </a:r>
            <a:r>
              <a:rPr lang="en-US" sz="2000" dirty="0"/>
              <a:t>: A fair and systematic comparison of three deep learning approaches on realistic cybersecurity data to identify the most effective one for detecting anomalies in real-world traffic.</a:t>
            </a:r>
          </a:p>
          <a:p>
            <a:endParaRPr lang="en-US" sz="2000" dirty="0"/>
          </a:p>
          <a:p>
            <a:r>
              <a:rPr lang="en-US" sz="2000" b="1" dirty="0"/>
              <a:t>Question: </a:t>
            </a:r>
            <a:r>
              <a:rPr lang="en-US" sz="2000" dirty="0"/>
              <a:t>Which model is most effective for real-world anomaly detection in cybersecurity?</a:t>
            </a:r>
            <a:endParaRPr lang="en-NZ" sz="2000" dirty="0"/>
          </a:p>
          <a:p>
            <a:endParaRPr lang="en-US" dirty="0"/>
          </a:p>
        </p:txBody>
      </p:sp>
      <p:sp>
        <p:nvSpPr>
          <p:cNvPr id="7" name="Title 1">
            <a:extLst>
              <a:ext uri="{FF2B5EF4-FFF2-40B4-BE49-F238E27FC236}">
                <a16:creationId xmlns:a16="http://schemas.microsoft.com/office/drawing/2014/main" id="{4236A54A-7CDF-F789-52AF-CBF81B6E5882}"/>
              </a:ext>
            </a:extLst>
          </p:cNvPr>
          <p:cNvSpPr txBox="1">
            <a:spLocks/>
          </p:cNvSpPr>
          <p:nvPr/>
        </p:nvSpPr>
        <p:spPr>
          <a:xfrm>
            <a:off x="572493" y="238539"/>
            <a:ext cx="11018520" cy="1434415"/>
          </a:xfrm>
          <a:prstGeom prst="rect">
            <a:avLst/>
          </a:prstGeom>
        </p:spPr>
        <p:txBody>
          <a:bodyPr vert="horz" lIns="91440" tIns="45720" rIns="91440" bIns="45720" rtlCol="0" anchor="b">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NZ" sz="5400" dirty="0"/>
              <a:t>The Goal</a:t>
            </a:r>
          </a:p>
        </p:txBody>
      </p:sp>
    </p:spTree>
    <p:extLst>
      <p:ext uri="{BB962C8B-B14F-4D97-AF65-F5344CB8AC3E}">
        <p14:creationId xmlns:p14="http://schemas.microsoft.com/office/powerpoint/2010/main" val="1137365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22529-F608-F76F-795F-426E3A3D94AD}"/>
              </a:ext>
            </a:extLst>
          </p:cNvPr>
          <p:cNvSpPr>
            <a:spLocks noGrp="1"/>
          </p:cNvSpPr>
          <p:nvPr>
            <p:ph type="title"/>
          </p:nvPr>
        </p:nvSpPr>
        <p:spPr/>
        <p:txBody>
          <a:bodyPr/>
          <a:lstStyle/>
          <a:p>
            <a:r>
              <a:rPr lang="en-NZ" dirty="0"/>
              <a:t>Selected Models</a:t>
            </a:r>
          </a:p>
        </p:txBody>
      </p:sp>
      <p:sp>
        <p:nvSpPr>
          <p:cNvPr id="3" name="Content Placeholder 2">
            <a:extLst>
              <a:ext uri="{FF2B5EF4-FFF2-40B4-BE49-F238E27FC236}">
                <a16:creationId xmlns:a16="http://schemas.microsoft.com/office/drawing/2014/main" id="{DB28A06B-B8E5-AA15-6F2E-14C5E249C30E}"/>
              </a:ext>
            </a:extLst>
          </p:cNvPr>
          <p:cNvSpPr>
            <a:spLocks noGrp="1"/>
          </p:cNvSpPr>
          <p:nvPr>
            <p:ph idx="1"/>
          </p:nvPr>
        </p:nvSpPr>
        <p:spPr/>
        <p:txBody>
          <a:bodyPr>
            <a:normAutofit/>
          </a:bodyPr>
          <a:lstStyle/>
          <a:p>
            <a:r>
              <a:rPr lang="en-US" sz="2000" dirty="0"/>
              <a:t>This study compares three distinct deep learning approaches:</a:t>
            </a:r>
          </a:p>
          <a:p>
            <a:endParaRPr lang="en-NZ" sz="2000" dirty="0"/>
          </a:p>
          <a:p>
            <a:pPr lvl="1"/>
            <a:r>
              <a:rPr lang="en-NZ" sz="2000" b="1" dirty="0"/>
              <a:t>Variational Autoencoder (VAE)</a:t>
            </a:r>
          </a:p>
          <a:p>
            <a:pPr lvl="1"/>
            <a:endParaRPr lang="en-NZ" sz="2000" dirty="0"/>
          </a:p>
          <a:p>
            <a:pPr lvl="1"/>
            <a:r>
              <a:rPr lang="en-NZ" sz="2000" b="1" dirty="0"/>
              <a:t>GANomaly</a:t>
            </a:r>
          </a:p>
          <a:p>
            <a:pPr lvl="1"/>
            <a:endParaRPr lang="en-NZ" sz="2000" b="1" dirty="0"/>
          </a:p>
          <a:p>
            <a:pPr lvl="1"/>
            <a:r>
              <a:rPr lang="en-US" sz="2000" b="1" dirty="0"/>
              <a:t>Deep Support Vector Data Description (Deep SVDD)</a:t>
            </a:r>
            <a:endParaRPr lang="en-NZ" sz="2000" dirty="0"/>
          </a:p>
        </p:txBody>
      </p:sp>
    </p:spTree>
    <p:extLst>
      <p:ext uri="{BB962C8B-B14F-4D97-AF65-F5344CB8AC3E}">
        <p14:creationId xmlns:p14="http://schemas.microsoft.com/office/powerpoint/2010/main" val="4246110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3089D-B006-EDF9-1DCC-EB91BBCD58C1}"/>
              </a:ext>
            </a:extLst>
          </p:cNvPr>
          <p:cNvSpPr>
            <a:spLocks noGrp="1"/>
          </p:cNvSpPr>
          <p:nvPr>
            <p:ph type="title"/>
          </p:nvPr>
        </p:nvSpPr>
        <p:spPr/>
        <p:txBody>
          <a:bodyPr/>
          <a:lstStyle/>
          <a:p>
            <a:r>
              <a:rPr lang="en-NZ" dirty="0"/>
              <a:t>VAE</a:t>
            </a:r>
          </a:p>
        </p:txBody>
      </p:sp>
      <p:pic>
        <p:nvPicPr>
          <p:cNvPr id="4" name="Content Placeholder 3">
            <a:extLst>
              <a:ext uri="{FF2B5EF4-FFF2-40B4-BE49-F238E27FC236}">
                <a16:creationId xmlns:a16="http://schemas.microsoft.com/office/drawing/2014/main" id="{4EAD487C-13F7-F74D-5E4E-13F948CDBE9E}"/>
              </a:ext>
            </a:extLst>
          </p:cNvPr>
          <p:cNvPicPr>
            <a:picLocks noGrp="1" noChangeAspect="1"/>
          </p:cNvPicPr>
          <p:nvPr>
            <p:ph idx="1"/>
          </p:nvPr>
        </p:nvPicPr>
        <p:blipFill>
          <a:blip r:embed="rId2"/>
          <a:srcRect l="19321" r="16297"/>
          <a:stretch>
            <a:fillRect/>
          </a:stretch>
        </p:blipFill>
        <p:spPr>
          <a:xfrm>
            <a:off x="2754733" y="2160588"/>
            <a:ext cx="4442572" cy="3881437"/>
          </a:xfrm>
          <a:prstGeom prst="rect">
            <a:avLst/>
          </a:prstGeom>
        </p:spPr>
      </p:pic>
    </p:spTree>
    <p:extLst>
      <p:ext uri="{BB962C8B-B14F-4D97-AF65-F5344CB8AC3E}">
        <p14:creationId xmlns:p14="http://schemas.microsoft.com/office/powerpoint/2010/main" val="593620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C2F46-CAAB-E9F6-BF6F-7FE92E540A6B}"/>
              </a:ext>
            </a:extLst>
          </p:cNvPr>
          <p:cNvSpPr>
            <a:spLocks noGrp="1"/>
          </p:cNvSpPr>
          <p:nvPr>
            <p:ph type="title"/>
          </p:nvPr>
        </p:nvSpPr>
        <p:spPr/>
        <p:txBody>
          <a:bodyPr/>
          <a:lstStyle/>
          <a:p>
            <a:r>
              <a:rPr lang="en-NZ" dirty="0"/>
              <a:t>VAE</a:t>
            </a:r>
          </a:p>
        </p:txBody>
      </p:sp>
      <p:sp>
        <p:nvSpPr>
          <p:cNvPr id="3" name="Content Placeholder 2">
            <a:extLst>
              <a:ext uri="{FF2B5EF4-FFF2-40B4-BE49-F238E27FC236}">
                <a16:creationId xmlns:a16="http://schemas.microsoft.com/office/drawing/2014/main" id="{50399E85-27B3-FACD-6EC2-2CE8FA972EDE}"/>
              </a:ext>
            </a:extLst>
          </p:cNvPr>
          <p:cNvSpPr>
            <a:spLocks noGrp="1"/>
          </p:cNvSpPr>
          <p:nvPr>
            <p:ph idx="1"/>
          </p:nvPr>
        </p:nvSpPr>
        <p:spPr>
          <a:xfrm>
            <a:off x="561473" y="1500554"/>
            <a:ext cx="9039727" cy="4916287"/>
          </a:xfrm>
        </p:spPr>
        <p:txBody>
          <a:bodyPr>
            <a:normAutofit fontScale="77500" lnSpcReduction="20000"/>
          </a:bodyPr>
          <a:lstStyle/>
          <a:p>
            <a:r>
              <a:rPr lang="en-US" b="1" dirty="0"/>
              <a:t>Core Idea:</a:t>
            </a:r>
            <a:r>
              <a:rPr lang="en-US" dirty="0"/>
              <a:t> Learns a flexible "blueprint" of normal data and flags anything it can't properly reconstruct.</a:t>
            </a:r>
          </a:p>
          <a:p>
            <a:r>
              <a:rPr lang="en-US" b="1" dirty="0"/>
              <a:t>How It Works:</a:t>
            </a:r>
            <a:endParaRPr lang="en-US" dirty="0"/>
          </a:p>
          <a:p>
            <a:r>
              <a:rPr lang="en-US" b="1" dirty="0"/>
              <a:t>Encoder:</a:t>
            </a:r>
            <a:endParaRPr lang="en-US" dirty="0"/>
          </a:p>
          <a:p>
            <a:pPr lvl="1"/>
            <a:r>
              <a:rPr lang="en-US" dirty="0"/>
              <a:t>Compresses a normal network flow into a </a:t>
            </a:r>
            <a:r>
              <a:rPr lang="en-US" b="1" dirty="0"/>
              <a:t>probability distribution</a:t>
            </a:r>
            <a:r>
              <a:rPr lang="en-US" dirty="0"/>
              <a:t> in a latent space.</a:t>
            </a:r>
          </a:p>
          <a:p>
            <a:pPr lvl="1"/>
            <a:r>
              <a:rPr lang="en-US" i="1" dirty="0"/>
              <a:t>Unlike a standard autoencoder that uses a fixed point, this creates a flexible understanding of normal data.</a:t>
            </a:r>
            <a:endParaRPr lang="en-US" dirty="0"/>
          </a:p>
          <a:p>
            <a:r>
              <a:rPr lang="en-US" b="1" dirty="0"/>
              <a:t>Latent Space:</a:t>
            </a:r>
            <a:endParaRPr lang="en-US" dirty="0"/>
          </a:p>
          <a:p>
            <a:pPr lvl="1"/>
            <a:r>
              <a:rPr lang="en-US" dirty="0"/>
              <a:t>The "learned blueprint" of normal traffic, capturing essential patterns.</a:t>
            </a:r>
          </a:p>
          <a:p>
            <a:r>
              <a:rPr lang="en-US" b="1" dirty="0"/>
              <a:t>Decoder:</a:t>
            </a:r>
            <a:endParaRPr lang="en-US" dirty="0"/>
          </a:p>
          <a:p>
            <a:pPr lvl="1"/>
            <a:r>
              <a:rPr lang="en-US" dirty="0"/>
              <a:t>Samples from this distribution and attempts to reconstruct the original input.</a:t>
            </a:r>
          </a:p>
          <a:p>
            <a:r>
              <a:rPr lang="en-US" b="1" dirty="0"/>
              <a:t>How It Detects Anomalies:</a:t>
            </a:r>
            <a:endParaRPr lang="en-US" dirty="0"/>
          </a:p>
          <a:p>
            <a:r>
              <a:rPr lang="en-US" dirty="0"/>
              <a:t>Becomes an expert at reconstructing normal traffic.</a:t>
            </a:r>
          </a:p>
          <a:p>
            <a:r>
              <a:rPr lang="en-US" dirty="0"/>
              <a:t>When an attack flow passes through:</a:t>
            </a:r>
          </a:p>
          <a:p>
            <a:pPr lvl="1"/>
            <a:r>
              <a:rPr lang="en-US" dirty="0"/>
              <a:t>The encoder </a:t>
            </a:r>
            <a:r>
              <a:rPr lang="en-US" b="1" dirty="0"/>
              <a:t>can't map it</a:t>
            </a:r>
            <a:r>
              <a:rPr lang="en-US" dirty="0"/>
              <a:t> well to the normal blueprint.</a:t>
            </a:r>
          </a:p>
          <a:p>
            <a:pPr lvl="1"/>
            <a:r>
              <a:rPr lang="en-US" dirty="0"/>
              <a:t>The decoder </a:t>
            </a:r>
            <a:r>
              <a:rPr lang="en-US" b="1" dirty="0"/>
              <a:t>struggles to reconstruct</a:t>
            </a:r>
            <a:r>
              <a:rPr lang="en-US" dirty="0"/>
              <a:t> it accurately.</a:t>
            </a:r>
          </a:p>
          <a:p>
            <a:r>
              <a:rPr lang="en-US" b="1" dirty="0"/>
              <a:t>The Anomaly Score is the RECONSTRUCTION ERROR.</a:t>
            </a:r>
            <a:endParaRPr lang="en-US" dirty="0"/>
          </a:p>
          <a:p>
            <a:pPr lvl="1"/>
            <a:r>
              <a:rPr lang="en-US" dirty="0"/>
              <a:t>A high error means "I've never seen this before" → Flag as an attack.</a:t>
            </a:r>
          </a:p>
          <a:p>
            <a:endParaRPr lang="en-NZ" dirty="0"/>
          </a:p>
        </p:txBody>
      </p:sp>
    </p:spTree>
    <p:extLst>
      <p:ext uri="{BB962C8B-B14F-4D97-AF65-F5344CB8AC3E}">
        <p14:creationId xmlns:p14="http://schemas.microsoft.com/office/powerpoint/2010/main" val="964694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F6B73-1CCF-F958-329C-2743D64A9331}"/>
              </a:ext>
            </a:extLst>
          </p:cNvPr>
          <p:cNvSpPr>
            <a:spLocks noGrp="1"/>
          </p:cNvSpPr>
          <p:nvPr>
            <p:ph type="title"/>
          </p:nvPr>
        </p:nvSpPr>
        <p:spPr/>
        <p:txBody>
          <a:bodyPr/>
          <a:lstStyle/>
          <a:p>
            <a:r>
              <a:rPr lang="en-NZ" dirty="0"/>
              <a:t>GANomaly</a:t>
            </a:r>
          </a:p>
        </p:txBody>
      </p:sp>
      <p:pic>
        <p:nvPicPr>
          <p:cNvPr id="1026" name="Picture 2" descr="GAN-Based Approaches for Generating Structured Data in the Medical Domain">
            <a:extLst>
              <a:ext uri="{FF2B5EF4-FFF2-40B4-BE49-F238E27FC236}">
                <a16:creationId xmlns:a16="http://schemas.microsoft.com/office/drawing/2014/main" id="{F777DC8D-999D-7D6F-FBDA-8D18CA3E7CE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82341" y="2261885"/>
            <a:ext cx="8634794" cy="2334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6584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0F2DC-80CF-A1E4-1375-237AC11FAFC5}"/>
              </a:ext>
            </a:extLst>
          </p:cNvPr>
          <p:cNvSpPr>
            <a:spLocks noGrp="1"/>
          </p:cNvSpPr>
          <p:nvPr>
            <p:ph type="title"/>
          </p:nvPr>
        </p:nvSpPr>
        <p:spPr/>
        <p:txBody>
          <a:bodyPr/>
          <a:lstStyle/>
          <a:p>
            <a:r>
              <a:rPr lang="en-NZ" dirty="0"/>
              <a:t>GANomaly</a:t>
            </a:r>
          </a:p>
        </p:txBody>
      </p:sp>
      <p:sp>
        <p:nvSpPr>
          <p:cNvPr id="3" name="Content Placeholder 2">
            <a:extLst>
              <a:ext uri="{FF2B5EF4-FFF2-40B4-BE49-F238E27FC236}">
                <a16:creationId xmlns:a16="http://schemas.microsoft.com/office/drawing/2014/main" id="{4FA24887-46B9-322B-DDAD-D277500B4388}"/>
              </a:ext>
            </a:extLst>
          </p:cNvPr>
          <p:cNvSpPr>
            <a:spLocks noGrp="1"/>
          </p:cNvSpPr>
          <p:nvPr>
            <p:ph idx="1"/>
          </p:nvPr>
        </p:nvSpPr>
        <p:spPr>
          <a:xfrm>
            <a:off x="677333" y="1441938"/>
            <a:ext cx="8876975" cy="5029200"/>
          </a:xfrm>
        </p:spPr>
        <p:txBody>
          <a:bodyPr>
            <a:normAutofit fontScale="77500" lnSpcReduction="20000"/>
          </a:bodyPr>
          <a:lstStyle/>
          <a:p>
            <a:r>
              <a:rPr lang="en-US" b="1" dirty="0"/>
              <a:t>Core Idea:</a:t>
            </a:r>
            <a:r>
              <a:rPr lang="en-US" dirty="0"/>
              <a:t> Uses an adversarial game to become hyper-sensitive to subtle anomalies by comparing the "idea" of the original with its reconstruction.</a:t>
            </a:r>
          </a:p>
          <a:p>
            <a:r>
              <a:rPr lang="en-US" b="1" dirty="0"/>
              <a:t>How It Works: Two Networks Compete</a:t>
            </a:r>
            <a:endParaRPr lang="en-US" dirty="0"/>
          </a:p>
          <a:p>
            <a:r>
              <a:rPr lang="en-US" b="1" dirty="0"/>
              <a:t>Generator (The Forger):</a:t>
            </a:r>
            <a:r>
              <a:rPr lang="en-US" dirty="0"/>
              <a:t> Encoder -&gt; Decoder -&gt; Encoder</a:t>
            </a:r>
          </a:p>
          <a:p>
            <a:pPr lvl="1"/>
            <a:r>
              <a:rPr lang="en-US" dirty="0"/>
              <a:t>Takes an input, encodes it (</a:t>
            </a:r>
            <a:r>
              <a:rPr lang="en-US" dirty="0" err="1"/>
              <a:t>latent_z</a:t>
            </a:r>
            <a:r>
              <a:rPr lang="en-US" dirty="0"/>
              <a:t>), decodes it (reconstruction), then re-encodes the reconstruction (</a:t>
            </a:r>
            <a:r>
              <a:rPr lang="en-US" dirty="0" err="1"/>
              <a:t>latent_ž</a:t>
            </a:r>
            <a:r>
              <a:rPr lang="en-US" dirty="0"/>
              <a:t>).</a:t>
            </a:r>
          </a:p>
          <a:p>
            <a:pPr lvl="1"/>
            <a:r>
              <a:rPr lang="en-US" b="1" dirty="0"/>
              <a:t>Goal:</a:t>
            </a:r>
            <a:r>
              <a:rPr lang="en-US" dirty="0"/>
              <a:t> Make perfect reconstructions that fool the discriminator.</a:t>
            </a:r>
          </a:p>
          <a:p>
            <a:r>
              <a:rPr lang="en-US" b="1" dirty="0"/>
              <a:t>Discriminator (The Critic):</a:t>
            </a:r>
            <a:endParaRPr lang="en-US" dirty="0"/>
          </a:p>
          <a:p>
            <a:pPr lvl="1"/>
            <a:r>
              <a:rPr lang="en-US" dirty="0"/>
              <a:t>Looks at any latent code and decides: </a:t>
            </a:r>
            <a:r>
              <a:rPr lang="en-US" b="1" dirty="0"/>
              <a:t>"Is this from a REAL input or a GENERATED reconstruction?"</a:t>
            </a:r>
            <a:endParaRPr lang="en-US" dirty="0"/>
          </a:p>
          <a:p>
            <a:pPr lvl="1"/>
            <a:r>
              <a:rPr lang="en-US" dirty="0"/>
              <a:t>This adversarial training forces the generator to master normal data.</a:t>
            </a:r>
          </a:p>
          <a:p>
            <a:r>
              <a:rPr lang="en-US" b="1" dirty="0"/>
              <a:t>How It Detects Anomalies:</a:t>
            </a:r>
            <a:endParaRPr lang="en-US" dirty="0"/>
          </a:p>
          <a:p>
            <a:r>
              <a:rPr lang="en-US" dirty="0"/>
              <a:t>The anomaly score is a combination of:</a:t>
            </a:r>
          </a:p>
          <a:p>
            <a:r>
              <a:rPr lang="en-US" b="1" dirty="0"/>
              <a:t>Reconstruction Error:</a:t>
            </a:r>
            <a:r>
              <a:rPr lang="en-US" dirty="0"/>
              <a:t> How pixel-perfect is the reconstruction?</a:t>
            </a:r>
          </a:p>
          <a:p>
            <a:r>
              <a:rPr lang="en-US" b="1" dirty="0"/>
              <a:t>Latent Space Discrepancy (The Key):</a:t>
            </a:r>
            <a:r>
              <a:rPr lang="en-US" dirty="0"/>
              <a:t> How different is the original "idea" (</a:t>
            </a:r>
            <a:r>
              <a:rPr lang="en-US" dirty="0" err="1"/>
              <a:t>latent_z</a:t>
            </a:r>
            <a:r>
              <a:rPr lang="en-US" dirty="0"/>
              <a:t>) from the reconstruction's "idea" (</a:t>
            </a:r>
            <a:r>
              <a:rPr lang="en-US" dirty="0" err="1"/>
              <a:t>latent_ž</a:t>
            </a:r>
            <a:r>
              <a:rPr lang="en-US" dirty="0"/>
              <a:t>)?</a:t>
            </a:r>
          </a:p>
          <a:p>
            <a:pPr lvl="1"/>
            <a:r>
              <a:rPr lang="en-US" b="1" dirty="0"/>
              <a:t>Normal Data:</a:t>
            </a:r>
            <a:r>
              <a:rPr lang="en-US" dirty="0"/>
              <a:t> The two latent codes are very similar.</a:t>
            </a:r>
          </a:p>
          <a:p>
            <a:pPr lvl="1"/>
            <a:r>
              <a:rPr lang="en-US" b="1" dirty="0"/>
              <a:t>Anomalous Data:</a:t>
            </a:r>
            <a:r>
              <a:rPr lang="en-US" dirty="0"/>
              <a:t> The generator gets confused; the two latent codes are very different.</a:t>
            </a:r>
          </a:p>
          <a:p>
            <a:r>
              <a:rPr lang="en-US" b="1" dirty="0"/>
              <a:t>Flags inputs that are both hard to reconstruct AND whose core "idea" changes.</a:t>
            </a:r>
            <a:endParaRPr lang="en-US" dirty="0"/>
          </a:p>
          <a:p>
            <a:endParaRPr lang="en-NZ" dirty="0"/>
          </a:p>
        </p:txBody>
      </p:sp>
    </p:spTree>
    <p:extLst>
      <p:ext uri="{BB962C8B-B14F-4D97-AF65-F5344CB8AC3E}">
        <p14:creationId xmlns:p14="http://schemas.microsoft.com/office/powerpoint/2010/main" val="2455449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B3AFA-4ADB-DEEC-55BE-B65872BFB218}"/>
              </a:ext>
            </a:extLst>
          </p:cNvPr>
          <p:cNvSpPr>
            <a:spLocks noGrp="1"/>
          </p:cNvSpPr>
          <p:nvPr>
            <p:ph type="title"/>
          </p:nvPr>
        </p:nvSpPr>
        <p:spPr/>
        <p:txBody>
          <a:bodyPr/>
          <a:lstStyle/>
          <a:p>
            <a:r>
              <a:rPr lang="en-NZ" dirty="0"/>
              <a:t>Deep SVDD</a:t>
            </a:r>
          </a:p>
        </p:txBody>
      </p:sp>
      <p:pic>
        <p:nvPicPr>
          <p:cNvPr id="5" name="Content Placeholder 4">
            <a:extLst>
              <a:ext uri="{FF2B5EF4-FFF2-40B4-BE49-F238E27FC236}">
                <a16:creationId xmlns:a16="http://schemas.microsoft.com/office/drawing/2014/main" id="{A27997DA-DC71-1517-9CCB-1AFE070306DC}"/>
              </a:ext>
            </a:extLst>
          </p:cNvPr>
          <p:cNvPicPr>
            <a:picLocks noGrp="1" noChangeAspect="1"/>
          </p:cNvPicPr>
          <p:nvPr>
            <p:ph idx="1"/>
          </p:nvPr>
        </p:nvPicPr>
        <p:blipFill>
          <a:blip r:embed="rId3"/>
          <a:stretch>
            <a:fillRect/>
          </a:stretch>
        </p:blipFill>
        <p:spPr>
          <a:xfrm>
            <a:off x="291000" y="2192216"/>
            <a:ext cx="8596312" cy="2921698"/>
          </a:xfrm>
          <a:prstGeom prst="rect">
            <a:avLst/>
          </a:prstGeom>
        </p:spPr>
      </p:pic>
      <p:pic>
        <p:nvPicPr>
          <p:cNvPr id="2050" name="Picture 2" descr="CGTS: graph transformer-based anomaly detection in controller area networks  | Cybersecurity | Full Text">
            <a:extLst>
              <a:ext uri="{FF2B5EF4-FFF2-40B4-BE49-F238E27FC236}">
                <a16:creationId xmlns:a16="http://schemas.microsoft.com/office/drawing/2014/main" id="{273B8D4F-A23B-EBBB-AD66-083A331D5A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81646" y="2490663"/>
            <a:ext cx="3410354" cy="2324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4789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5AC8B-8D90-F542-5F22-FB3B1F9E34CC}"/>
              </a:ext>
            </a:extLst>
          </p:cNvPr>
          <p:cNvSpPr>
            <a:spLocks noGrp="1"/>
          </p:cNvSpPr>
          <p:nvPr>
            <p:ph type="title"/>
          </p:nvPr>
        </p:nvSpPr>
        <p:spPr/>
        <p:txBody>
          <a:bodyPr/>
          <a:lstStyle/>
          <a:p>
            <a:r>
              <a:rPr lang="en-NZ" dirty="0"/>
              <a:t>Deep SVDD</a:t>
            </a:r>
          </a:p>
        </p:txBody>
      </p:sp>
      <p:sp>
        <p:nvSpPr>
          <p:cNvPr id="3" name="Content Placeholder 2">
            <a:extLst>
              <a:ext uri="{FF2B5EF4-FFF2-40B4-BE49-F238E27FC236}">
                <a16:creationId xmlns:a16="http://schemas.microsoft.com/office/drawing/2014/main" id="{7A4EB160-B6BA-C9ED-CE5A-D177FC669362}"/>
              </a:ext>
            </a:extLst>
          </p:cNvPr>
          <p:cNvSpPr>
            <a:spLocks noGrp="1"/>
          </p:cNvSpPr>
          <p:nvPr>
            <p:ph idx="1"/>
          </p:nvPr>
        </p:nvSpPr>
        <p:spPr>
          <a:xfrm>
            <a:off x="677333" y="1477108"/>
            <a:ext cx="9017651" cy="4564254"/>
          </a:xfrm>
        </p:spPr>
        <p:txBody>
          <a:bodyPr>
            <a:normAutofit fontScale="77500" lnSpcReduction="20000"/>
          </a:bodyPr>
          <a:lstStyle/>
          <a:p>
            <a:r>
              <a:rPr lang="en-US" b="1" dirty="0"/>
              <a:t>Core Idea:</a:t>
            </a:r>
            <a:r>
              <a:rPr lang="en-US" dirty="0"/>
              <a:t> Learns a simple, compact boundary that surrounds all normal data, ignoring everything else.</a:t>
            </a:r>
          </a:p>
          <a:p>
            <a:r>
              <a:rPr lang="en-US" b="1" dirty="0"/>
              <a:t>How It Works:</a:t>
            </a:r>
            <a:endParaRPr lang="en-US" dirty="0"/>
          </a:p>
          <a:p>
            <a:r>
              <a:rPr lang="en-US" b="1" dirty="0"/>
              <a:t>Neural Network Projector:</a:t>
            </a:r>
            <a:endParaRPr lang="en-US" dirty="0"/>
          </a:p>
          <a:p>
            <a:pPr lvl="1"/>
            <a:r>
              <a:rPr lang="en-US" dirty="0"/>
              <a:t>Uses a neural network as a </a:t>
            </a:r>
            <a:r>
              <a:rPr lang="en-US" b="1" dirty="0"/>
              <a:t>transformation lens</a:t>
            </a:r>
            <a:r>
              <a:rPr lang="en-US" dirty="0"/>
              <a:t> to map input data into a new, optimized feature space.</a:t>
            </a:r>
          </a:p>
          <a:p>
            <a:r>
              <a:rPr lang="en-US" b="1" dirty="0"/>
              <a:t>The Hypersphere:</a:t>
            </a:r>
            <a:endParaRPr lang="en-US" dirty="0"/>
          </a:p>
          <a:p>
            <a:pPr lvl="1"/>
            <a:r>
              <a:rPr lang="en-US" dirty="0"/>
              <a:t>During training, the model learns to pull all normal data points toward a single, pre-defined center point.</a:t>
            </a:r>
          </a:p>
          <a:p>
            <a:pPr lvl="1"/>
            <a:r>
              <a:rPr lang="en-US" dirty="0"/>
              <a:t>The objective is to </a:t>
            </a:r>
            <a:r>
              <a:rPr lang="en-US" b="1" dirty="0"/>
              <a:t>minimize the distance</a:t>
            </a:r>
            <a:r>
              <a:rPr lang="en-US" dirty="0"/>
              <a:t> of all normal points from this center.</a:t>
            </a:r>
          </a:p>
          <a:p>
            <a:r>
              <a:rPr lang="en-US" b="1" dirty="0"/>
              <a:t>The Result:</a:t>
            </a:r>
            <a:endParaRPr lang="en-US" dirty="0"/>
          </a:p>
          <a:p>
            <a:pPr lvl="1"/>
            <a:r>
              <a:rPr lang="en-US" dirty="0"/>
              <a:t>A tight boundary or </a:t>
            </a:r>
            <a:r>
              <a:rPr lang="en-US" b="1" dirty="0"/>
              <a:t>"fence" (a hypersphere)</a:t>
            </a:r>
            <a:r>
              <a:rPr lang="en-US" dirty="0"/>
              <a:t>—is formed around the condensed cluster of normal data.</a:t>
            </a:r>
          </a:p>
          <a:p>
            <a:r>
              <a:rPr lang="en-US" b="1" dirty="0"/>
              <a:t>How It Detects Anomalies:</a:t>
            </a:r>
            <a:endParaRPr lang="en-US" dirty="0"/>
          </a:p>
          <a:p>
            <a:r>
              <a:rPr lang="en-US" dirty="0"/>
              <a:t>For any new data point:</a:t>
            </a:r>
          </a:p>
          <a:p>
            <a:pPr lvl="1"/>
            <a:r>
              <a:rPr lang="en-US" dirty="0"/>
              <a:t>It is mapped through the neural network "lens."</a:t>
            </a:r>
          </a:p>
          <a:p>
            <a:pPr lvl="1"/>
            <a:r>
              <a:rPr lang="en-US" dirty="0"/>
              <a:t>The model calculates its </a:t>
            </a:r>
            <a:r>
              <a:rPr lang="en-US" b="1" dirty="0"/>
              <a:t>Euclidean distance from the center</a:t>
            </a:r>
            <a:r>
              <a:rPr lang="en-US" dirty="0"/>
              <a:t>.</a:t>
            </a:r>
          </a:p>
          <a:p>
            <a:r>
              <a:rPr lang="en-US" b="1" dirty="0"/>
              <a:t>The Anomaly Score is this DISTANCE.</a:t>
            </a:r>
            <a:endParaRPr lang="en-US" dirty="0"/>
          </a:p>
          <a:p>
            <a:r>
              <a:rPr lang="en-US" dirty="0"/>
              <a:t>Points inside the fence are normal. Points far outside are anomalies.</a:t>
            </a:r>
          </a:p>
          <a:p>
            <a:endParaRPr lang="en-NZ" dirty="0"/>
          </a:p>
        </p:txBody>
      </p:sp>
    </p:spTree>
    <p:extLst>
      <p:ext uri="{BB962C8B-B14F-4D97-AF65-F5344CB8AC3E}">
        <p14:creationId xmlns:p14="http://schemas.microsoft.com/office/powerpoint/2010/main" val="25146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1E5A9-24DD-C0B1-99BF-5780E27CE18A}"/>
              </a:ext>
            </a:extLst>
          </p:cNvPr>
          <p:cNvSpPr>
            <a:spLocks noGrp="1"/>
          </p:cNvSpPr>
          <p:nvPr>
            <p:ph type="title"/>
          </p:nvPr>
        </p:nvSpPr>
        <p:spPr/>
        <p:txBody>
          <a:bodyPr/>
          <a:lstStyle/>
          <a:p>
            <a:r>
              <a:rPr lang="en-NZ" dirty="0"/>
              <a:t>Why These Three Models?</a:t>
            </a:r>
          </a:p>
        </p:txBody>
      </p:sp>
      <p:sp>
        <p:nvSpPr>
          <p:cNvPr id="4" name="Content Placeholder 2">
            <a:extLst>
              <a:ext uri="{FF2B5EF4-FFF2-40B4-BE49-F238E27FC236}">
                <a16:creationId xmlns:a16="http://schemas.microsoft.com/office/drawing/2014/main" id="{F5A45F7D-F929-8F83-5528-213909F5DB72}"/>
              </a:ext>
            </a:extLst>
          </p:cNvPr>
          <p:cNvSpPr>
            <a:spLocks noGrp="1"/>
          </p:cNvSpPr>
          <p:nvPr>
            <p:ph idx="1"/>
          </p:nvPr>
        </p:nvSpPr>
        <p:spPr>
          <a:xfrm>
            <a:off x="677863" y="2160588"/>
            <a:ext cx="8596312" cy="3881437"/>
          </a:xfrm>
        </p:spPr>
        <p:txBody>
          <a:bodyPr>
            <a:normAutofit/>
          </a:bodyPr>
          <a:lstStyle/>
          <a:p>
            <a:r>
              <a:rPr lang="en-US" dirty="0"/>
              <a:t>I chose these three because they represent distinct and complementary approaches to anomaly detection</a:t>
            </a:r>
          </a:p>
          <a:p>
            <a:r>
              <a:rPr lang="en-US" dirty="0"/>
              <a:t>VAE: </a:t>
            </a:r>
          </a:p>
          <a:p>
            <a:pPr lvl="1"/>
            <a:r>
              <a:rPr lang="en-US" dirty="0"/>
              <a:t>Modern evolution of autoencoders - uses </a:t>
            </a:r>
            <a:r>
              <a:rPr lang="en-US" b="1" dirty="0"/>
              <a:t>probability distribution</a:t>
            </a:r>
            <a:r>
              <a:rPr lang="en-US" dirty="0"/>
              <a:t>s for better generalization</a:t>
            </a:r>
          </a:p>
          <a:p>
            <a:r>
              <a:rPr lang="en-US" dirty="0"/>
              <a:t>GANomaly:</a:t>
            </a:r>
          </a:p>
          <a:p>
            <a:pPr lvl="1"/>
            <a:r>
              <a:rPr lang="en-US" dirty="0"/>
              <a:t>Cutting-edge approach - uses </a:t>
            </a:r>
            <a:r>
              <a:rPr lang="en-US" b="1" dirty="0"/>
              <a:t>adversarial training </a:t>
            </a:r>
            <a:r>
              <a:rPr lang="en-US" dirty="0"/>
              <a:t>to catch subtle pattern changes</a:t>
            </a:r>
          </a:p>
          <a:p>
            <a:r>
              <a:rPr lang="en-US" dirty="0"/>
              <a:t>Deep SVDD</a:t>
            </a:r>
          </a:p>
          <a:p>
            <a:pPr lvl="1"/>
            <a:r>
              <a:rPr lang="en-US" dirty="0"/>
              <a:t>Completely different path - learns </a:t>
            </a:r>
            <a:r>
              <a:rPr lang="en-US" b="1" dirty="0"/>
              <a:t>direct boundaries </a:t>
            </a:r>
            <a:r>
              <a:rPr lang="en-US" dirty="0"/>
              <a:t>instead of reconstructing data</a:t>
            </a:r>
            <a:endParaRPr lang="en-NZ" dirty="0"/>
          </a:p>
        </p:txBody>
      </p:sp>
    </p:spTree>
    <p:extLst>
      <p:ext uri="{BB962C8B-B14F-4D97-AF65-F5344CB8AC3E}">
        <p14:creationId xmlns:p14="http://schemas.microsoft.com/office/powerpoint/2010/main" val="2014816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678F9-6769-BD61-E6D9-D8B9FED667BD}"/>
              </a:ext>
            </a:extLst>
          </p:cNvPr>
          <p:cNvSpPr>
            <a:spLocks noGrp="1"/>
          </p:cNvSpPr>
          <p:nvPr>
            <p:ph type="title"/>
          </p:nvPr>
        </p:nvSpPr>
        <p:spPr/>
        <p:txBody>
          <a:bodyPr/>
          <a:lstStyle/>
          <a:p>
            <a:r>
              <a:rPr lang="en-NZ" dirty="0"/>
              <a:t>Methodology</a:t>
            </a:r>
          </a:p>
        </p:txBody>
      </p:sp>
      <p:sp>
        <p:nvSpPr>
          <p:cNvPr id="3" name="Content Placeholder 2">
            <a:extLst>
              <a:ext uri="{FF2B5EF4-FFF2-40B4-BE49-F238E27FC236}">
                <a16:creationId xmlns:a16="http://schemas.microsoft.com/office/drawing/2014/main" id="{F742FEEE-CB24-D4F7-4FA4-ABB0E60328D6}"/>
              </a:ext>
            </a:extLst>
          </p:cNvPr>
          <p:cNvSpPr>
            <a:spLocks noGrp="1"/>
          </p:cNvSpPr>
          <p:nvPr>
            <p:ph idx="1"/>
          </p:nvPr>
        </p:nvSpPr>
        <p:spPr>
          <a:xfrm>
            <a:off x="677334" y="2160589"/>
            <a:ext cx="8596668" cy="4087811"/>
          </a:xfrm>
        </p:spPr>
        <p:txBody>
          <a:bodyPr>
            <a:normAutofit fontScale="92500" lnSpcReduction="10000"/>
          </a:bodyPr>
          <a:lstStyle/>
          <a:p>
            <a:r>
              <a:rPr lang="en-US" b="1" dirty="0"/>
              <a:t>Dataset: CIC-IDS2017 - The Realistic Benchmark</a:t>
            </a:r>
          </a:p>
          <a:p>
            <a:endParaRPr lang="en-US" b="1" dirty="0"/>
          </a:p>
          <a:p>
            <a:r>
              <a:rPr lang="en-US" b="1" dirty="0"/>
              <a:t>Why I chose CIC-IDS2017 as my real-world dataset?</a:t>
            </a:r>
          </a:p>
          <a:p>
            <a:pPr lvl="1"/>
            <a:r>
              <a:rPr lang="en-US" dirty="0"/>
              <a:t>Simulates a real corporate network over 5 days with diverse, modern attacks (DDoS, PortScan, Infiltration, etc.)</a:t>
            </a:r>
          </a:p>
          <a:p>
            <a:pPr lvl="1"/>
            <a:endParaRPr lang="en-US" b="1" dirty="0"/>
          </a:p>
          <a:p>
            <a:r>
              <a:rPr lang="en-US" b="1" dirty="0"/>
              <a:t>What does the data look like?</a:t>
            </a:r>
          </a:p>
          <a:p>
            <a:pPr lvl="1"/>
            <a:r>
              <a:rPr lang="en-US" b="1" dirty="0"/>
              <a:t>Format:</a:t>
            </a:r>
            <a:r>
              <a:rPr lang="en-US" dirty="0"/>
              <a:t> Tabular data (CSV) - 79 features describing network flows</a:t>
            </a:r>
          </a:p>
          <a:p>
            <a:pPr lvl="1"/>
            <a:r>
              <a:rPr lang="en-US" b="1" dirty="0"/>
              <a:t>Each row:</a:t>
            </a:r>
            <a:r>
              <a:rPr lang="en-US" dirty="0"/>
              <a:t> A complete </a:t>
            </a:r>
            <a:r>
              <a:rPr lang="en-US" b="1" dirty="0"/>
              <a:t>bidirectional communication session</a:t>
            </a:r>
            <a:r>
              <a:rPr lang="en-US" dirty="0"/>
              <a:t> between two endpoints known as a network flow.</a:t>
            </a:r>
          </a:p>
          <a:p>
            <a:pPr lvl="1"/>
            <a:r>
              <a:rPr lang="en-US" b="1" dirty="0"/>
              <a:t>Label:</a:t>
            </a:r>
            <a:r>
              <a:rPr lang="en-US" dirty="0"/>
              <a:t> "BENIGN" or specific attack type</a:t>
            </a:r>
          </a:p>
          <a:p>
            <a:pPr lvl="1"/>
            <a:r>
              <a:rPr lang="en-US" b="1" dirty="0"/>
              <a:t>Benefit:</a:t>
            </a:r>
            <a:r>
              <a:rPr lang="en-US" dirty="0"/>
              <a:t> Provides a higher-level view of network activity compared to raw packet data</a:t>
            </a:r>
          </a:p>
          <a:p>
            <a:pPr marL="457200" lvl="1" indent="0">
              <a:buNone/>
            </a:pPr>
            <a:endParaRPr lang="en-US" dirty="0"/>
          </a:p>
        </p:txBody>
      </p:sp>
    </p:spTree>
    <p:extLst>
      <p:ext uri="{BB962C8B-B14F-4D97-AF65-F5344CB8AC3E}">
        <p14:creationId xmlns:p14="http://schemas.microsoft.com/office/powerpoint/2010/main" val="3594639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79FF7-29BF-76D3-6F20-5F88EF757B1E}"/>
              </a:ext>
            </a:extLst>
          </p:cNvPr>
          <p:cNvSpPr>
            <a:spLocks noGrp="1"/>
          </p:cNvSpPr>
          <p:nvPr>
            <p:ph type="title"/>
          </p:nvPr>
        </p:nvSpPr>
        <p:spPr/>
        <p:txBody>
          <a:bodyPr/>
          <a:lstStyle/>
          <a:p>
            <a:r>
              <a:rPr lang="en-NZ" dirty="0"/>
              <a:t>CIC-IDS-2017 </a:t>
            </a:r>
          </a:p>
        </p:txBody>
      </p:sp>
      <p:pic>
        <p:nvPicPr>
          <p:cNvPr id="5" name="Content Placeholder 4">
            <a:extLst>
              <a:ext uri="{FF2B5EF4-FFF2-40B4-BE49-F238E27FC236}">
                <a16:creationId xmlns:a16="http://schemas.microsoft.com/office/drawing/2014/main" id="{EE67002C-7D00-D7CA-1D98-F5F81DF3CEB1}"/>
              </a:ext>
            </a:extLst>
          </p:cNvPr>
          <p:cNvPicPr>
            <a:picLocks noGrp="1" noChangeAspect="1"/>
          </p:cNvPicPr>
          <p:nvPr>
            <p:ph idx="1"/>
          </p:nvPr>
        </p:nvPicPr>
        <p:blipFill>
          <a:blip r:embed="rId3"/>
          <a:srcRect b="53376"/>
          <a:stretch>
            <a:fillRect/>
          </a:stretch>
        </p:blipFill>
        <p:spPr>
          <a:xfrm>
            <a:off x="677334" y="1559990"/>
            <a:ext cx="7450694" cy="740819"/>
          </a:xfrm>
          <a:prstGeom prst="rect">
            <a:avLst/>
          </a:prstGeom>
        </p:spPr>
      </p:pic>
      <p:pic>
        <p:nvPicPr>
          <p:cNvPr id="8" name="Picture 2" descr="Network Intrusion dataset(CIC-IDS- 2017)">
            <a:extLst>
              <a:ext uri="{FF2B5EF4-FFF2-40B4-BE49-F238E27FC236}">
                <a16:creationId xmlns:a16="http://schemas.microsoft.com/office/drawing/2014/main" id="{59E03739-59EA-3627-44F7-CBC991105B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414" y="3458670"/>
            <a:ext cx="5898681" cy="278973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665A639D-4763-E0B3-AC16-3E13CD29D410}"/>
              </a:ext>
            </a:extLst>
          </p:cNvPr>
          <p:cNvPicPr>
            <a:picLocks noChangeAspect="1"/>
          </p:cNvPicPr>
          <p:nvPr/>
        </p:nvPicPr>
        <p:blipFill>
          <a:blip r:embed="rId5"/>
          <a:stretch>
            <a:fillRect/>
          </a:stretch>
        </p:blipFill>
        <p:spPr>
          <a:xfrm>
            <a:off x="677335" y="2605230"/>
            <a:ext cx="7450693" cy="416207"/>
          </a:xfrm>
          <a:prstGeom prst="rect">
            <a:avLst/>
          </a:prstGeom>
        </p:spPr>
      </p:pic>
      <p:sp>
        <p:nvSpPr>
          <p:cNvPr id="13" name="Rectangle 12">
            <a:extLst>
              <a:ext uri="{FF2B5EF4-FFF2-40B4-BE49-F238E27FC236}">
                <a16:creationId xmlns:a16="http://schemas.microsoft.com/office/drawing/2014/main" id="{40600B49-E03C-38F4-9A7A-BC7CD763D03F}"/>
              </a:ext>
            </a:extLst>
          </p:cNvPr>
          <p:cNvSpPr/>
          <p:nvPr/>
        </p:nvSpPr>
        <p:spPr>
          <a:xfrm>
            <a:off x="8234634" y="1447369"/>
            <a:ext cx="772160" cy="17068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Z" dirty="0"/>
          </a:p>
        </p:txBody>
      </p:sp>
      <p:pic>
        <p:nvPicPr>
          <p:cNvPr id="14" name="Picture 13">
            <a:extLst>
              <a:ext uri="{FF2B5EF4-FFF2-40B4-BE49-F238E27FC236}">
                <a16:creationId xmlns:a16="http://schemas.microsoft.com/office/drawing/2014/main" id="{7C4D6510-288D-F969-6B6E-B607466B594B}"/>
              </a:ext>
            </a:extLst>
          </p:cNvPr>
          <p:cNvPicPr>
            <a:picLocks noChangeAspect="1"/>
          </p:cNvPicPr>
          <p:nvPr/>
        </p:nvPicPr>
        <p:blipFill>
          <a:blip r:embed="rId6"/>
          <a:srcRect t="1" b="58376"/>
          <a:stretch>
            <a:fillRect/>
          </a:stretch>
        </p:blipFill>
        <p:spPr>
          <a:xfrm>
            <a:off x="8365772" y="1559990"/>
            <a:ext cx="534388" cy="786655"/>
          </a:xfrm>
          <a:prstGeom prst="rect">
            <a:avLst/>
          </a:prstGeom>
        </p:spPr>
      </p:pic>
      <p:pic>
        <p:nvPicPr>
          <p:cNvPr id="15" name="Picture 14">
            <a:extLst>
              <a:ext uri="{FF2B5EF4-FFF2-40B4-BE49-F238E27FC236}">
                <a16:creationId xmlns:a16="http://schemas.microsoft.com/office/drawing/2014/main" id="{1337E560-7286-914D-1F7B-4B20018CF5EE}"/>
              </a:ext>
            </a:extLst>
          </p:cNvPr>
          <p:cNvPicPr>
            <a:picLocks noChangeAspect="1"/>
          </p:cNvPicPr>
          <p:nvPr/>
        </p:nvPicPr>
        <p:blipFill>
          <a:blip r:embed="rId7"/>
          <a:stretch>
            <a:fillRect/>
          </a:stretch>
        </p:blipFill>
        <p:spPr>
          <a:xfrm>
            <a:off x="8365772" y="2533808"/>
            <a:ext cx="534388" cy="487629"/>
          </a:xfrm>
          <a:prstGeom prst="rect">
            <a:avLst/>
          </a:prstGeom>
        </p:spPr>
      </p:pic>
      <mc:AlternateContent xmlns:mc="http://schemas.openxmlformats.org/markup-compatibility/2006">
        <mc:Choice xmlns:p14="http://schemas.microsoft.com/office/powerpoint/2010/main" Requires="p14">
          <p:contentPart p14:bwMode="auto" r:id="rId8">
            <p14:nvContentPartPr>
              <p14:cNvPr id="18" name="Ink 17">
                <a:extLst>
                  <a:ext uri="{FF2B5EF4-FFF2-40B4-BE49-F238E27FC236}">
                    <a16:creationId xmlns:a16="http://schemas.microsoft.com/office/drawing/2014/main" id="{1BF60E58-8411-8B81-06AB-FACA5A549A8F}"/>
                  </a:ext>
                </a:extLst>
              </p14:cNvPr>
              <p14:cNvContentPartPr/>
              <p14:nvPr/>
            </p14:nvContentPartPr>
            <p14:xfrm>
              <a:off x="8412300" y="1804440"/>
              <a:ext cx="449280" cy="9360"/>
            </p14:xfrm>
          </p:contentPart>
        </mc:Choice>
        <mc:Fallback>
          <p:pic>
            <p:nvPicPr>
              <p:cNvPr id="18" name="Ink 17">
                <a:extLst>
                  <a:ext uri="{FF2B5EF4-FFF2-40B4-BE49-F238E27FC236}">
                    <a16:creationId xmlns:a16="http://schemas.microsoft.com/office/drawing/2014/main" id="{1BF60E58-8411-8B81-06AB-FACA5A549A8F}"/>
                  </a:ext>
                </a:extLst>
              </p:cNvPr>
              <p:cNvPicPr/>
              <p:nvPr/>
            </p:nvPicPr>
            <p:blipFill>
              <a:blip r:embed="rId9"/>
              <a:stretch>
                <a:fillRect/>
              </a:stretch>
            </p:blipFill>
            <p:spPr>
              <a:xfrm>
                <a:off x="8376300" y="1732800"/>
                <a:ext cx="520920" cy="153000"/>
              </a:xfrm>
              <a:prstGeom prst="rect">
                <a:avLst/>
              </a:prstGeom>
            </p:spPr>
          </p:pic>
        </mc:Fallback>
      </mc:AlternateContent>
      <p:pic>
        <p:nvPicPr>
          <p:cNvPr id="3076" name="Picture 4">
            <a:extLst>
              <a:ext uri="{FF2B5EF4-FFF2-40B4-BE49-F238E27FC236}">
                <a16:creationId xmlns:a16="http://schemas.microsoft.com/office/drawing/2014/main" id="{3337C9A9-3279-8168-382E-29419ACED87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76140" y="3494685"/>
            <a:ext cx="3104292" cy="3178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7888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6"/>
                                        </p:tgtEl>
                                        <p:attrNameLst>
                                          <p:attrName>style.visibility</p:attrName>
                                        </p:attrNameLst>
                                      </p:cBhvr>
                                      <p:to>
                                        <p:strVal val="visible"/>
                                      </p:to>
                                    </p:set>
                                    <p:animEffect transition="in" filter="fade">
                                      <p:cBhvr>
                                        <p:cTn id="12"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4733A-CF62-E730-A336-BE6AF1F90B9F}"/>
              </a:ext>
            </a:extLst>
          </p:cNvPr>
          <p:cNvSpPr>
            <a:spLocks noGrp="1"/>
          </p:cNvSpPr>
          <p:nvPr>
            <p:ph type="title"/>
          </p:nvPr>
        </p:nvSpPr>
        <p:spPr/>
        <p:txBody>
          <a:bodyPr/>
          <a:lstStyle/>
          <a:p>
            <a:r>
              <a:rPr lang="en-NZ" dirty="0"/>
              <a:t>Methodology</a:t>
            </a:r>
          </a:p>
        </p:txBody>
      </p:sp>
      <p:sp>
        <p:nvSpPr>
          <p:cNvPr id="3" name="Content Placeholder 2">
            <a:extLst>
              <a:ext uri="{FF2B5EF4-FFF2-40B4-BE49-F238E27FC236}">
                <a16:creationId xmlns:a16="http://schemas.microsoft.com/office/drawing/2014/main" id="{8149325F-FA58-00A4-D01A-3AA091109D8F}"/>
              </a:ext>
            </a:extLst>
          </p:cNvPr>
          <p:cNvSpPr>
            <a:spLocks noGrp="1"/>
          </p:cNvSpPr>
          <p:nvPr>
            <p:ph idx="1"/>
          </p:nvPr>
        </p:nvSpPr>
        <p:spPr>
          <a:xfrm>
            <a:off x="677334" y="1748063"/>
            <a:ext cx="9028140" cy="4384590"/>
          </a:xfrm>
        </p:spPr>
        <p:txBody>
          <a:bodyPr>
            <a:normAutofit fontScale="92500" lnSpcReduction="20000"/>
          </a:bodyPr>
          <a:lstStyle/>
          <a:p>
            <a:r>
              <a:rPr lang="en-US" b="1" dirty="0"/>
              <a:t>Data Preprocessing Pipeline:</a:t>
            </a:r>
            <a:endParaRPr lang="en-US" dirty="0"/>
          </a:p>
          <a:p>
            <a:pPr lvl="1"/>
            <a:r>
              <a:rPr lang="en-US" b="1" dirty="0"/>
              <a:t>Cleaning:</a:t>
            </a:r>
            <a:r>
              <a:rPr lang="en-US" dirty="0"/>
              <a:t> Removed 308,381 duplicate records, handled missing values</a:t>
            </a:r>
          </a:p>
          <a:p>
            <a:pPr lvl="1"/>
            <a:r>
              <a:rPr lang="en-US" b="1" dirty="0"/>
              <a:t>Feature Selection:</a:t>
            </a:r>
            <a:r>
              <a:rPr lang="en-US" dirty="0"/>
              <a:t> Dropped 8 zero-variance features</a:t>
            </a:r>
          </a:p>
          <a:p>
            <a:pPr lvl="1"/>
            <a:r>
              <a:rPr lang="en-US" b="1" dirty="0"/>
              <a:t>Normalization:</a:t>
            </a:r>
            <a:r>
              <a:rPr lang="en-US" dirty="0"/>
              <a:t> MinMaxScaler applied </a:t>
            </a:r>
            <a:r>
              <a:rPr lang="en-US" b="1" dirty="0"/>
              <a:t>using only normal training data</a:t>
            </a:r>
            <a:endParaRPr lang="en-US" dirty="0"/>
          </a:p>
          <a:p>
            <a:pPr lvl="1"/>
            <a:r>
              <a:rPr lang="en-US" b="1" dirty="0"/>
              <a:t>Label Processing:</a:t>
            </a:r>
            <a:r>
              <a:rPr lang="en-US" dirty="0"/>
              <a:t> Converted to binary classification (Normal=0, Attack=1)</a:t>
            </a:r>
          </a:p>
          <a:p>
            <a:pPr lvl="1"/>
            <a:r>
              <a:rPr lang="en-US" b="1" dirty="0"/>
              <a:t>Final Features: </a:t>
            </a:r>
            <a:r>
              <a:rPr lang="en-US" dirty="0"/>
              <a:t>70 selected network flow characteristics</a:t>
            </a:r>
          </a:p>
          <a:p>
            <a:pPr lvl="1"/>
            <a:r>
              <a:rPr lang="en-US" b="1" dirty="0"/>
              <a:t>Train-Test Split:</a:t>
            </a:r>
            <a:r>
              <a:rPr lang="en-US" dirty="0"/>
              <a:t> 70% normal traffic for training, 30% mixed traffic for testing</a:t>
            </a:r>
          </a:p>
          <a:p>
            <a:r>
              <a:rPr lang="en-US" b="1" dirty="0"/>
              <a:t>Total After Preprocessing:</a:t>
            </a:r>
            <a:r>
              <a:rPr lang="en-US" dirty="0"/>
              <a:t> 2,522,362 network flows</a:t>
            </a:r>
          </a:p>
          <a:p>
            <a:r>
              <a:rPr lang="en-US" b="1" dirty="0"/>
              <a:t>Training (Normal Only):</a:t>
            </a:r>
            <a:r>
              <a:rPr lang="en-US" dirty="0"/>
              <a:t> 1,467,538 sample</a:t>
            </a:r>
          </a:p>
          <a:p>
            <a:r>
              <a:rPr lang="en-US" b="1" dirty="0"/>
              <a:t>Test Set:</a:t>
            </a:r>
            <a:r>
              <a:rPr lang="en-US" dirty="0"/>
              <a:t> 756,709 samples</a:t>
            </a:r>
          </a:p>
          <a:p>
            <a:pPr lvl="1"/>
            <a:r>
              <a:rPr lang="en-US" b="1" dirty="0"/>
              <a:t>Normal in Test:</a:t>
            </a:r>
            <a:r>
              <a:rPr lang="en-US" dirty="0"/>
              <a:t> 628,946 (83.1%)</a:t>
            </a:r>
          </a:p>
          <a:p>
            <a:pPr lvl="1"/>
            <a:r>
              <a:rPr lang="en-US" b="1" dirty="0"/>
              <a:t>Anomalies in Test:</a:t>
            </a:r>
            <a:r>
              <a:rPr lang="en-US" dirty="0"/>
              <a:t> 127,763 (16.9%)</a:t>
            </a:r>
          </a:p>
          <a:p>
            <a:r>
              <a:rPr lang="en-US" b="1" dirty="0"/>
              <a:t>Anomaly Ratio:</a:t>
            </a:r>
            <a:r>
              <a:rPr lang="en-US" dirty="0"/>
              <a:t> 16.88%</a:t>
            </a:r>
          </a:p>
          <a:p>
            <a:endParaRPr lang="en-NZ" dirty="0"/>
          </a:p>
        </p:txBody>
      </p:sp>
    </p:spTree>
    <p:extLst>
      <p:ext uri="{BB962C8B-B14F-4D97-AF65-F5344CB8AC3E}">
        <p14:creationId xmlns:p14="http://schemas.microsoft.com/office/powerpoint/2010/main" val="727799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592FC-C756-68E4-E3BA-B97348CC7EC5}"/>
              </a:ext>
            </a:extLst>
          </p:cNvPr>
          <p:cNvSpPr>
            <a:spLocks noGrp="1"/>
          </p:cNvSpPr>
          <p:nvPr>
            <p:ph type="title"/>
          </p:nvPr>
        </p:nvSpPr>
        <p:spPr/>
        <p:txBody>
          <a:bodyPr/>
          <a:lstStyle/>
          <a:p>
            <a:r>
              <a:rPr lang="en-NZ" dirty="0"/>
              <a:t>Methodology</a:t>
            </a:r>
            <a:br>
              <a:rPr lang="en-NZ" b="1" dirty="0"/>
            </a:br>
            <a:endParaRPr lang="en-NZ" dirty="0"/>
          </a:p>
        </p:txBody>
      </p:sp>
      <p:sp>
        <p:nvSpPr>
          <p:cNvPr id="3" name="Content Placeholder 2">
            <a:extLst>
              <a:ext uri="{FF2B5EF4-FFF2-40B4-BE49-F238E27FC236}">
                <a16:creationId xmlns:a16="http://schemas.microsoft.com/office/drawing/2014/main" id="{C3CE8A8D-8C9B-DA29-2B6C-6DD58F6E93DB}"/>
              </a:ext>
            </a:extLst>
          </p:cNvPr>
          <p:cNvSpPr>
            <a:spLocks noGrp="1"/>
          </p:cNvSpPr>
          <p:nvPr>
            <p:ph idx="1"/>
          </p:nvPr>
        </p:nvSpPr>
        <p:spPr/>
        <p:txBody>
          <a:bodyPr>
            <a:normAutofit fontScale="92500" lnSpcReduction="10000"/>
          </a:bodyPr>
          <a:lstStyle/>
          <a:p>
            <a:r>
              <a:rPr lang="en-NZ" dirty="0"/>
              <a:t>For fair comparison setup, kept a consistent parameters across all 3 models</a:t>
            </a:r>
          </a:p>
          <a:p>
            <a:pPr lvl="1"/>
            <a:r>
              <a:rPr lang="en-US" b="1" dirty="0"/>
              <a:t>Architecture:</a:t>
            </a:r>
            <a:r>
              <a:rPr lang="en-US" dirty="0"/>
              <a:t> Same latent dimension (64), hidden layers [256, 128]</a:t>
            </a:r>
          </a:p>
          <a:p>
            <a:pPr lvl="1"/>
            <a:r>
              <a:rPr lang="en-US" b="1" dirty="0"/>
              <a:t>Training:</a:t>
            </a:r>
            <a:r>
              <a:rPr lang="en-US" dirty="0"/>
              <a:t> Same samples, batch size (256), epochs (50)</a:t>
            </a:r>
          </a:p>
          <a:p>
            <a:pPr lvl="1"/>
            <a:r>
              <a:rPr lang="en-US" b="1" dirty="0"/>
              <a:t>Optimization:</a:t>
            </a:r>
            <a:r>
              <a:rPr lang="en-US" dirty="0"/>
              <a:t> Same optimizer (Adam), learning rate (0.001)</a:t>
            </a:r>
          </a:p>
          <a:p>
            <a:pPr lvl="1"/>
            <a:r>
              <a:rPr lang="en-US" b="1" dirty="0"/>
              <a:t>Randomness:</a:t>
            </a:r>
            <a:r>
              <a:rPr lang="en-US" dirty="0"/>
              <a:t> Fixed random seed (42)</a:t>
            </a:r>
          </a:p>
          <a:p>
            <a:endParaRPr lang="en-NZ" dirty="0"/>
          </a:p>
          <a:p>
            <a:r>
              <a:rPr lang="en-NZ" b="1" dirty="0"/>
              <a:t>Why this matter?:</a:t>
            </a:r>
          </a:p>
          <a:p>
            <a:pPr lvl="1"/>
            <a:r>
              <a:rPr lang="en-US" dirty="0"/>
              <a:t>Ensures performance differences reflect </a:t>
            </a:r>
            <a:r>
              <a:rPr lang="en-US" b="1" dirty="0"/>
              <a:t>core algorithms</a:t>
            </a:r>
            <a:r>
              <a:rPr lang="en-US" dirty="0"/>
              <a:t>, not tuning</a:t>
            </a:r>
          </a:p>
          <a:p>
            <a:pPr lvl="1"/>
            <a:r>
              <a:rPr lang="en-US" dirty="0"/>
              <a:t>Prevents any model from gaining unfair advantages</a:t>
            </a:r>
          </a:p>
          <a:p>
            <a:pPr lvl="1"/>
            <a:r>
              <a:rPr lang="en-US" dirty="0"/>
              <a:t>Provides </a:t>
            </a:r>
            <a:r>
              <a:rPr lang="en-US" b="1" dirty="0"/>
              <a:t>reproducible and consistent</a:t>
            </a:r>
            <a:r>
              <a:rPr lang="en-US" dirty="0"/>
              <a:t> benchmarks</a:t>
            </a:r>
          </a:p>
          <a:p>
            <a:pPr lvl="1"/>
            <a:r>
              <a:rPr lang="en-US" dirty="0"/>
              <a:t>Focuses on inherent strengths of each philosophical approach</a:t>
            </a:r>
          </a:p>
          <a:p>
            <a:pPr lvl="2"/>
            <a:endParaRPr lang="en-NZ" b="1" dirty="0"/>
          </a:p>
          <a:p>
            <a:pPr lvl="1"/>
            <a:endParaRPr lang="en-US" dirty="0"/>
          </a:p>
          <a:p>
            <a:pPr lvl="1"/>
            <a:endParaRPr lang="en-NZ" dirty="0"/>
          </a:p>
        </p:txBody>
      </p:sp>
    </p:spTree>
    <p:extLst>
      <p:ext uri="{BB962C8B-B14F-4D97-AF65-F5344CB8AC3E}">
        <p14:creationId xmlns:p14="http://schemas.microsoft.com/office/powerpoint/2010/main" val="4143459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99891-7199-B606-AA75-DC424C3F2752}"/>
              </a:ext>
            </a:extLst>
          </p:cNvPr>
          <p:cNvSpPr>
            <a:spLocks noGrp="1"/>
          </p:cNvSpPr>
          <p:nvPr>
            <p:ph type="title"/>
          </p:nvPr>
        </p:nvSpPr>
        <p:spPr/>
        <p:txBody>
          <a:bodyPr/>
          <a:lstStyle/>
          <a:p>
            <a:r>
              <a:rPr lang="en-NZ" dirty="0"/>
              <a:t>Methodology</a:t>
            </a:r>
          </a:p>
        </p:txBody>
      </p:sp>
      <p:sp>
        <p:nvSpPr>
          <p:cNvPr id="3" name="Content Placeholder 2">
            <a:extLst>
              <a:ext uri="{FF2B5EF4-FFF2-40B4-BE49-F238E27FC236}">
                <a16:creationId xmlns:a16="http://schemas.microsoft.com/office/drawing/2014/main" id="{706D33AE-6F0D-042F-2901-42B3B8799728}"/>
              </a:ext>
            </a:extLst>
          </p:cNvPr>
          <p:cNvSpPr>
            <a:spLocks noGrp="1"/>
          </p:cNvSpPr>
          <p:nvPr>
            <p:ph idx="1"/>
          </p:nvPr>
        </p:nvSpPr>
        <p:spPr>
          <a:xfrm>
            <a:off x="677334" y="2160589"/>
            <a:ext cx="9114848" cy="825679"/>
          </a:xfrm>
        </p:spPr>
        <p:txBody>
          <a:bodyPr>
            <a:normAutofit/>
          </a:bodyPr>
          <a:lstStyle/>
          <a:p>
            <a:r>
              <a:rPr lang="en-NZ" sz="2000" dirty="0"/>
              <a:t>After, I trained each the model on the training data being only normal</a:t>
            </a:r>
          </a:p>
        </p:txBody>
      </p:sp>
    </p:spTree>
    <p:extLst>
      <p:ext uri="{BB962C8B-B14F-4D97-AF65-F5344CB8AC3E}">
        <p14:creationId xmlns:p14="http://schemas.microsoft.com/office/powerpoint/2010/main" val="2567565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ED5A5-E1DA-436B-9446-E8916FD37689}"/>
              </a:ext>
            </a:extLst>
          </p:cNvPr>
          <p:cNvSpPr>
            <a:spLocks noGrp="1"/>
          </p:cNvSpPr>
          <p:nvPr>
            <p:ph type="title"/>
          </p:nvPr>
        </p:nvSpPr>
        <p:spPr/>
        <p:txBody>
          <a:bodyPr/>
          <a:lstStyle/>
          <a:p>
            <a:r>
              <a:rPr lang="en-NZ" dirty="0"/>
              <a:t>Methodology</a:t>
            </a:r>
          </a:p>
        </p:txBody>
      </p:sp>
      <p:sp>
        <p:nvSpPr>
          <p:cNvPr id="3" name="Content Placeholder 2">
            <a:extLst>
              <a:ext uri="{FF2B5EF4-FFF2-40B4-BE49-F238E27FC236}">
                <a16:creationId xmlns:a16="http://schemas.microsoft.com/office/drawing/2014/main" id="{5132CD23-6436-C035-793F-B7227A44EB04}"/>
              </a:ext>
            </a:extLst>
          </p:cNvPr>
          <p:cNvSpPr>
            <a:spLocks noGrp="1"/>
          </p:cNvSpPr>
          <p:nvPr>
            <p:ph idx="1"/>
          </p:nvPr>
        </p:nvSpPr>
        <p:spPr>
          <a:xfrm>
            <a:off x="677334" y="2160589"/>
            <a:ext cx="8596668" cy="4240211"/>
          </a:xfrm>
        </p:spPr>
        <p:txBody>
          <a:bodyPr>
            <a:normAutofit fontScale="92500" lnSpcReduction="10000"/>
          </a:bodyPr>
          <a:lstStyle/>
          <a:p>
            <a:r>
              <a:rPr lang="en-NZ" dirty="0"/>
              <a:t>Threshold optimisation</a:t>
            </a:r>
          </a:p>
          <a:p>
            <a:pPr lvl="1"/>
            <a:r>
              <a:rPr lang="en-US" dirty="0"/>
              <a:t>Models output anomaly scores, not binary decisions  </a:t>
            </a:r>
          </a:p>
          <a:p>
            <a:pPr lvl="1"/>
            <a:r>
              <a:rPr lang="en-US" dirty="0"/>
              <a:t>Hence, we need a threshold to define where to draw the line between normal and attack</a:t>
            </a:r>
          </a:p>
          <a:p>
            <a:pPr lvl="1"/>
            <a:r>
              <a:rPr lang="en-US" dirty="0"/>
              <a:t>Default thresholds are overly conservative - designed to minimize false positives, resulting in high precision but poor recall (missing many attacks).</a:t>
            </a:r>
          </a:p>
          <a:p>
            <a:endParaRPr lang="en-NZ" dirty="0"/>
          </a:p>
          <a:p>
            <a:r>
              <a:rPr lang="en-NZ" dirty="0"/>
              <a:t>Why threshold optimisation is essential?</a:t>
            </a:r>
          </a:p>
          <a:p>
            <a:pPr lvl="1"/>
            <a:r>
              <a:rPr lang="en-US" dirty="0"/>
              <a:t>Precision vs. Recall Trade-off: </a:t>
            </a:r>
          </a:p>
          <a:p>
            <a:pPr lvl="1"/>
            <a:r>
              <a:rPr lang="en-US" dirty="0"/>
              <a:t>High threshold: Few false alarms, but miss many attacks </a:t>
            </a:r>
          </a:p>
          <a:p>
            <a:pPr lvl="1"/>
            <a:r>
              <a:rPr lang="en-US" dirty="0"/>
              <a:t>Low threshold: Catch most attacks, but many false alarms </a:t>
            </a:r>
          </a:p>
          <a:p>
            <a:pPr lvl="1"/>
            <a:r>
              <a:rPr lang="en-US" dirty="0"/>
              <a:t>Critical for practical cybersecurity operations where both matter</a:t>
            </a:r>
          </a:p>
          <a:p>
            <a:pPr lvl="1"/>
            <a:r>
              <a:rPr lang="en-US" dirty="0"/>
              <a:t>The models are optimized for practical detection so better balance between catching threats and managing false alarms</a:t>
            </a:r>
          </a:p>
          <a:p>
            <a:pPr lvl="1"/>
            <a:endParaRPr lang="en-NZ" dirty="0"/>
          </a:p>
        </p:txBody>
      </p:sp>
    </p:spTree>
    <p:extLst>
      <p:ext uri="{BB962C8B-B14F-4D97-AF65-F5344CB8AC3E}">
        <p14:creationId xmlns:p14="http://schemas.microsoft.com/office/powerpoint/2010/main" val="3680478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CEB02-9DA6-B565-78C5-5EBB419B1262}"/>
              </a:ext>
            </a:extLst>
          </p:cNvPr>
          <p:cNvSpPr>
            <a:spLocks noGrp="1"/>
          </p:cNvSpPr>
          <p:nvPr>
            <p:ph type="title"/>
          </p:nvPr>
        </p:nvSpPr>
        <p:spPr/>
        <p:txBody>
          <a:bodyPr/>
          <a:lstStyle/>
          <a:p>
            <a:r>
              <a:rPr lang="en-NZ" dirty="0"/>
              <a:t>Methodology</a:t>
            </a:r>
          </a:p>
        </p:txBody>
      </p:sp>
      <p:sp>
        <p:nvSpPr>
          <p:cNvPr id="3" name="Content Placeholder 2">
            <a:extLst>
              <a:ext uri="{FF2B5EF4-FFF2-40B4-BE49-F238E27FC236}">
                <a16:creationId xmlns:a16="http://schemas.microsoft.com/office/drawing/2014/main" id="{E432B3EB-A882-E5B5-BD5F-BFFE9F447162}"/>
              </a:ext>
            </a:extLst>
          </p:cNvPr>
          <p:cNvSpPr>
            <a:spLocks noGrp="1"/>
          </p:cNvSpPr>
          <p:nvPr>
            <p:ph idx="1"/>
          </p:nvPr>
        </p:nvSpPr>
        <p:spPr>
          <a:xfrm>
            <a:off x="677334" y="1695368"/>
            <a:ext cx="8596668" cy="3880773"/>
          </a:xfrm>
        </p:spPr>
        <p:txBody>
          <a:bodyPr>
            <a:normAutofit fontScale="92500" lnSpcReduction="20000"/>
          </a:bodyPr>
          <a:lstStyle/>
          <a:p>
            <a:r>
              <a:rPr lang="en-NZ" dirty="0"/>
              <a:t>My systemic approach:</a:t>
            </a:r>
          </a:p>
          <a:p>
            <a:pPr lvl="1"/>
            <a:r>
              <a:rPr lang="en-US" dirty="0"/>
              <a:t>Tested 5 evenly distributed thresholds </a:t>
            </a:r>
          </a:p>
          <a:p>
            <a:pPr lvl="1"/>
            <a:r>
              <a:rPr lang="en-US" dirty="0"/>
              <a:t>Calculate precision, recall and F1-score for each</a:t>
            </a:r>
          </a:p>
          <a:p>
            <a:pPr lvl="1"/>
            <a:r>
              <a:rPr lang="en-US" dirty="0"/>
              <a:t>Identified the optimal threshold that </a:t>
            </a:r>
            <a:r>
              <a:rPr lang="en-US" b="1" dirty="0"/>
              <a:t>maximize F1-Score</a:t>
            </a:r>
            <a:r>
              <a:rPr lang="en-US" dirty="0"/>
              <a:t>, providing the most practical operational point</a:t>
            </a:r>
            <a:endParaRPr lang="en-NZ" b="1" dirty="0"/>
          </a:p>
          <a:p>
            <a:endParaRPr lang="en-NZ" dirty="0"/>
          </a:p>
          <a:p>
            <a:r>
              <a:rPr lang="en-NZ" dirty="0"/>
              <a:t>Why precisely 5 thresholds?</a:t>
            </a:r>
          </a:p>
          <a:p>
            <a:pPr lvl="1"/>
            <a:r>
              <a:rPr lang="en-US" b="1" dirty="0"/>
              <a:t>Computationally efficient</a:t>
            </a:r>
            <a:r>
              <a:rPr lang="en-US" dirty="0"/>
              <a:t> and practical for deployment</a:t>
            </a:r>
          </a:p>
          <a:p>
            <a:pPr lvl="1"/>
            <a:r>
              <a:rPr lang="en-US" b="1" dirty="0"/>
              <a:t>Covers the full score spectrum</a:t>
            </a:r>
            <a:r>
              <a:rPr lang="en-US" dirty="0"/>
              <a:t> without over-engineering</a:t>
            </a:r>
          </a:p>
          <a:p>
            <a:pPr lvl="1"/>
            <a:r>
              <a:rPr lang="en-US" dirty="0"/>
              <a:t>Provides </a:t>
            </a:r>
            <a:r>
              <a:rPr lang="en-US" b="1" dirty="0"/>
              <a:t>clear precision-recall trade-off analysis</a:t>
            </a:r>
            <a:endParaRPr lang="en-US" dirty="0"/>
          </a:p>
          <a:p>
            <a:pPr lvl="1"/>
            <a:r>
              <a:rPr lang="en-US" dirty="0"/>
              <a:t>More </a:t>
            </a:r>
            <a:r>
              <a:rPr lang="en-US" b="1" dirty="0"/>
              <a:t>interpretable and reproducible</a:t>
            </a:r>
            <a:r>
              <a:rPr lang="en-US" dirty="0"/>
              <a:t> than complex optimization</a:t>
            </a:r>
          </a:p>
          <a:p>
            <a:pPr lvl="1"/>
            <a:r>
              <a:rPr lang="en-US" b="1" dirty="0"/>
              <a:t>Sufficient resolution</a:t>
            </a:r>
            <a:r>
              <a:rPr lang="en-US" dirty="0"/>
              <a:t> to find the optimal operational point</a:t>
            </a:r>
          </a:p>
        </p:txBody>
      </p:sp>
      <p:pic>
        <p:nvPicPr>
          <p:cNvPr id="4102" name="Picture 6" descr="Square Horizontal Line Icons - Free SVG &amp; PNG Square Horizontal Line Images  - Noun Project">
            <a:extLst>
              <a:ext uri="{FF2B5EF4-FFF2-40B4-BE49-F238E27FC236}">
                <a16:creationId xmlns:a16="http://schemas.microsoft.com/office/drawing/2014/main" id="{809111A0-8DDB-5231-ED36-D9250D714F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8051" y="5162632"/>
            <a:ext cx="5349272" cy="19050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725E373A-B013-F29F-72EB-46082418D84F}"/>
              </a:ext>
            </a:extLst>
          </p:cNvPr>
          <p:cNvCxnSpPr/>
          <p:nvPr/>
        </p:nvCxnSpPr>
        <p:spPr>
          <a:xfrm>
            <a:off x="1391497" y="5767754"/>
            <a:ext cx="0" cy="703384"/>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Connector 9">
            <a:extLst>
              <a:ext uri="{FF2B5EF4-FFF2-40B4-BE49-F238E27FC236}">
                <a16:creationId xmlns:a16="http://schemas.microsoft.com/office/drawing/2014/main" id="{A7C29B22-F4A1-621A-0B1C-91241410A204}"/>
              </a:ext>
            </a:extLst>
          </p:cNvPr>
          <p:cNvCxnSpPr/>
          <p:nvPr/>
        </p:nvCxnSpPr>
        <p:spPr>
          <a:xfrm>
            <a:off x="2825262" y="5751717"/>
            <a:ext cx="0" cy="703384"/>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Connector 10">
            <a:extLst>
              <a:ext uri="{FF2B5EF4-FFF2-40B4-BE49-F238E27FC236}">
                <a16:creationId xmlns:a16="http://schemas.microsoft.com/office/drawing/2014/main" id="{A3955300-C7F5-FBFB-3920-E46ADB6E54C4}"/>
              </a:ext>
            </a:extLst>
          </p:cNvPr>
          <p:cNvCxnSpPr/>
          <p:nvPr/>
        </p:nvCxnSpPr>
        <p:spPr>
          <a:xfrm>
            <a:off x="4030964" y="5751717"/>
            <a:ext cx="0" cy="703384"/>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 name="Straight Connector 11">
            <a:extLst>
              <a:ext uri="{FF2B5EF4-FFF2-40B4-BE49-F238E27FC236}">
                <a16:creationId xmlns:a16="http://schemas.microsoft.com/office/drawing/2014/main" id="{0E1F72D3-8259-60EC-3BF4-2DE78DD4B9A9}"/>
              </a:ext>
            </a:extLst>
          </p:cNvPr>
          <p:cNvCxnSpPr/>
          <p:nvPr/>
        </p:nvCxnSpPr>
        <p:spPr>
          <a:xfrm>
            <a:off x="5250163" y="5751717"/>
            <a:ext cx="0" cy="703384"/>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 name="Straight Connector 12">
            <a:extLst>
              <a:ext uri="{FF2B5EF4-FFF2-40B4-BE49-F238E27FC236}">
                <a16:creationId xmlns:a16="http://schemas.microsoft.com/office/drawing/2014/main" id="{8F501334-44B6-F86B-D2A9-2635F9278528}"/>
              </a:ext>
            </a:extLst>
          </p:cNvPr>
          <p:cNvCxnSpPr/>
          <p:nvPr/>
        </p:nvCxnSpPr>
        <p:spPr>
          <a:xfrm>
            <a:off x="6705600" y="5775163"/>
            <a:ext cx="0" cy="703384"/>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04179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2BB84-E8E1-81B9-EC28-289C3B249A06}"/>
              </a:ext>
            </a:extLst>
          </p:cNvPr>
          <p:cNvSpPr>
            <a:spLocks noGrp="1"/>
          </p:cNvSpPr>
          <p:nvPr>
            <p:ph type="title"/>
          </p:nvPr>
        </p:nvSpPr>
        <p:spPr/>
        <p:txBody>
          <a:bodyPr/>
          <a:lstStyle/>
          <a:p>
            <a:r>
              <a:rPr lang="en-NZ" dirty="0"/>
              <a:t>The results</a:t>
            </a:r>
          </a:p>
        </p:txBody>
      </p:sp>
      <p:sp>
        <p:nvSpPr>
          <p:cNvPr id="3" name="Content Placeholder 2">
            <a:extLst>
              <a:ext uri="{FF2B5EF4-FFF2-40B4-BE49-F238E27FC236}">
                <a16:creationId xmlns:a16="http://schemas.microsoft.com/office/drawing/2014/main" id="{A8EE4F38-32E8-358E-AC76-2DB1900E67DA}"/>
              </a:ext>
            </a:extLst>
          </p:cNvPr>
          <p:cNvSpPr>
            <a:spLocks noGrp="1"/>
          </p:cNvSpPr>
          <p:nvPr>
            <p:ph idx="1"/>
          </p:nvPr>
        </p:nvSpPr>
        <p:spPr>
          <a:xfrm>
            <a:off x="677334" y="2208715"/>
            <a:ext cx="8596668" cy="4352506"/>
          </a:xfrm>
        </p:spPr>
        <p:txBody>
          <a:bodyPr>
            <a:normAutofit lnSpcReduction="10000"/>
          </a:bodyPr>
          <a:lstStyle/>
          <a:p>
            <a:r>
              <a:rPr lang="en-NZ" dirty="0"/>
              <a:t>Accuracy can be misleading with imbalanced data (83% normal, 17% attacks)</a:t>
            </a:r>
          </a:p>
          <a:p>
            <a:r>
              <a:rPr lang="en-NZ" dirty="0"/>
              <a:t>Hence we need metrics that reveal the true detection capability</a:t>
            </a:r>
          </a:p>
          <a:p>
            <a:endParaRPr lang="en-NZ" dirty="0"/>
          </a:p>
          <a:p>
            <a:r>
              <a:rPr lang="en-NZ" dirty="0"/>
              <a:t>Key Metrics:</a:t>
            </a:r>
          </a:p>
          <a:p>
            <a:pPr lvl="1"/>
            <a:r>
              <a:rPr lang="en-US" b="1" dirty="0"/>
              <a:t>Precision:</a:t>
            </a:r>
            <a:r>
              <a:rPr lang="en-US" dirty="0"/>
              <a:t> When the model flags an attack, how often is it correct? </a:t>
            </a:r>
            <a:r>
              <a:rPr lang="en-US" i="1" dirty="0"/>
              <a:t>(Low false alarms)</a:t>
            </a:r>
            <a:endParaRPr lang="en-US" dirty="0"/>
          </a:p>
          <a:p>
            <a:pPr lvl="1"/>
            <a:r>
              <a:rPr lang="en-US" b="1" dirty="0"/>
              <a:t>Recall:</a:t>
            </a:r>
            <a:r>
              <a:rPr lang="en-US" dirty="0"/>
              <a:t> What percentage of real attacks did the model detect? </a:t>
            </a:r>
            <a:r>
              <a:rPr lang="en-US" i="1" dirty="0"/>
              <a:t>(Low missed attacks)</a:t>
            </a:r>
            <a:endParaRPr lang="en-US" dirty="0"/>
          </a:p>
          <a:p>
            <a:pPr lvl="1"/>
            <a:r>
              <a:rPr lang="en-US" b="1" dirty="0"/>
              <a:t>F1-Score:</a:t>
            </a:r>
            <a:r>
              <a:rPr lang="en-US" dirty="0"/>
              <a:t> Harmonic mean of precision &amp; recall - the </a:t>
            </a:r>
            <a:r>
              <a:rPr lang="en-US" b="1" dirty="0"/>
              <a:t>balanced metric</a:t>
            </a:r>
            <a:endParaRPr lang="en-US" dirty="0"/>
          </a:p>
          <a:p>
            <a:pPr lvl="1"/>
            <a:r>
              <a:rPr lang="en-US" b="1" dirty="0"/>
              <a:t>ROC-AUC:</a:t>
            </a:r>
            <a:r>
              <a:rPr lang="en-US" dirty="0"/>
              <a:t> Model's overall ability to distinguish normal vs attack</a:t>
            </a:r>
          </a:p>
          <a:p>
            <a:endParaRPr lang="en-NZ" dirty="0"/>
          </a:p>
          <a:p>
            <a:r>
              <a:rPr lang="en-NZ" dirty="0"/>
              <a:t>The default threshold before optimisation gave high accuracy (0.85 – 0.90) and high precision but poor recall, hence missed attacks</a:t>
            </a:r>
          </a:p>
        </p:txBody>
      </p:sp>
    </p:spTree>
    <p:extLst>
      <p:ext uri="{BB962C8B-B14F-4D97-AF65-F5344CB8AC3E}">
        <p14:creationId xmlns:p14="http://schemas.microsoft.com/office/powerpoint/2010/main" val="2853609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14FC-95AE-BA6A-609C-30FF6D5535E6}"/>
              </a:ext>
            </a:extLst>
          </p:cNvPr>
          <p:cNvSpPr>
            <a:spLocks noGrp="1"/>
          </p:cNvSpPr>
          <p:nvPr>
            <p:ph type="title"/>
          </p:nvPr>
        </p:nvSpPr>
        <p:spPr/>
        <p:txBody>
          <a:bodyPr/>
          <a:lstStyle/>
          <a:p>
            <a:r>
              <a:rPr lang="en-NZ" dirty="0"/>
              <a:t>The results</a:t>
            </a:r>
          </a:p>
        </p:txBody>
      </p:sp>
      <p:sp>
        <p:nvSpPr>
          <p:cNvPr id="3" name="Content Placeholder 2">
            <a:extLst>
              <a:ext uri="{FF2B5EF4-FFF2-40B4-BE49-F238E27FC236}">
                <a16:creationId xmlns:a16="http://schemas.microsoft.com/office/drawing/2014/main" id="{356E183E-7017-597D-B08B-426418C11344}"/>
              </a:ext>
            </a:extLst>
          </p:cNvPr>
          <p:cNvSpPr>
            <a:spLocks noGrp="1"/>
          </p:cNvSpPr>
          <p:nvPr>
            <p:ph idx="1"/>
          </p:nvPr>
        </p:nvSpPr>
        <p:spPr/>
        <p:txBody>
          <a:bodyPr/>
          <a:lstStyle/>
          <a:p>
            <a:r>
              <a:rPr lang="en-US" dirty="0"/>
              <a:t>After threshold optimization : Performance comparison on CIC-IDS-2017</a:t>
            </a:r>
            <a:endParaRPr lang="en-NZ" dirty="0"/>
          </a:p>
        </p:txBody>
      </p:sp>
      <p:graphicFrame>
        <p:nvGraphicFramePr>
          <p:cNvPr id="6" name="Table 5">
            <a:extLst>
              <a:ext uri="{FF2B5EF4-FFF2-40B4-BE49-F238E27FC236}">
                <a16:creationId xmlns:a16="http://schemas.microsoft.com/office/drawing/2014/main" id="{30916156-4E4E-EF3F-AB95-0E971D17A289}"/>
              </a:ext>
            </a:extLst>
          </p:cNvPr>
          <p:cNvGraphicFramePr>
            <a:graphicFrameLocks noGrp="1"/>
          </p:cNvGraphicFramePr>
          <p:nvPr>
            <p:extLst>
              <p:ext uri="{D42A27DB-BD31-4B8C-83A1-F6EECF244321}">
                <p14:modId xmlns:p14="http://schemas.microsoft.com/office/powerpoint/2010/main" val="119683535"/>
              </p:ext>
            </p:extLst>
          </p:nvPr>
        </p:nvGraphicFramePr>
        <p:xfrm>
          <a:off x="1146000" y="3429000"/>
          <a:ext cx="8043054" cy="1752600"/>
        </p:xfrm>
        <a:graphic>
          <a:graphicData uri="http://schemas.openxmlformats.org/drawingml/2006/table">
            <a:tbl>
              <a:tblPr firstRow="1" bandRow="1">
                <a:tableStyleId>{10A1B5D5-9B99-4C35-A422-299274C87663}</a:tableStyleId>
              </a:tblPr>
              <a:tblGrid>
                <a:gridCol w="1409631">
                  <a:extLst>
                    <a:ext uri="{9D8B030D-6E8A-4147-A177-3AD203B41FA5}">
                      <a16:colId xmlns:a16="http://schemas.microsoft.com/office/drawing/2014/main" val="1591591219"/>
                    </a:ext>
                  </a:extLst>
                </a:gridCol>
                <a:gridCol w="1214755">
                  <a:extLst>
                    <a:ext uri="{9D8B030D-6E8A-4147-A177-3AD203B41FA5}">
                      <a16:colId xmlns:a16="http://schemas.microsoft.com/office/drawing/2014/main" val="4034565491"/>
                    </a:ext>
                  </a:extLst>
                </a:gridCol>
                <a:gridCol w="1354667">
                  <a:extLst>
                    <a:ext uri="{9D8B030D-6E8A-4147-A177-3AD203B41FA5}">
                      <a16:colId xmlns:a16="http://schemas.microsoft.com/office/drawing/2014/main" val="4217313707"/>
                    </a:ext>
                  </a:extLst>
                </a:gridCol>
                <a:gridCol w="1354667">
                  <a:extLst>
                    <a:ext uri="{9D8B030D-6E8A-4147-A177-3AD203B41FA5}">
                      <a16:colId xmlns:a16="http://schemas.microsoft.com/office/drawing/2014/main" val="3314099774"/>
                    </a:ext>
                  </a:extLst>
                </a:gridCol>
                <a:gridCol w="1354667">
                  <a:extLst>
                    <a:ext uri="{9D8B030D-6E8A-4147-A177-3AD203B41FA5}">
                      <a16:colId xmlns:a16="http://schemas.microsoft.com/office/drawing/2014/main" val="954731851"/>
                    </a:ext>
                  </a:extLst>
                </a:gridCol>
                <a:gridCol w="1354667">
                  <a:extLst>
                    <a:ext uri="{9D8B030D-6E8A-4147-A177-3AD203B41FA5}">
                      <a16:colId xmlns:a16="http://schemas.microsoft.com/office/drawing/2014/main" val="2463535371"/>
                    </a:ext>
                  </a:extLst>
                </a:gridCol>
              </a:tblGrid>
              <a:tr h="370840">
                <a:tc>
                  <a:txBody>
                    <a:bodyPr/>
                    <a:lstStyle/>
                    <a:p>
                      <a:r>
                        <a:rPr lang="en-NZ" dirty="0"/>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ROC-AUC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F1-Score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Recall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Accuracy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5155863"/>
                  </a:ext>
                </a:extLst>
              </a:tr>
              <a:tr h="370840">
                <a:tc>
                  <a:txBody>
                    <a:bodyPr/>
                    <a:lstStyle/>
                    <a:p>
                      <a:r>
                        <a:rPr lang="en-NZ" dirty="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0.853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b="1" dirty="0"/>
                        <a:t>0.629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0.655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0.605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b="1" dirty="0"/>
                        <a:t>0.880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1478993"/>
                  </a:ext>
                </a:extLst>
              </a:tr>
              <a:tr h="370840">
                <a:tc>
                  <a:txBody>
                    <a:bodyPr/>
                    <a:lstStyle/>
                    <a:p>
                      <a:r>
                        <a:rPr lang="en-NZ" dirty="0"/>
                        <a:t>GANomaly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0.790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0.466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0.389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0.582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0.778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9280192"/>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NZ" dirty="0"/>
                        <a:t>Deep SVDD</a:t>
                      </a:r>
                    </a:p>
                    <a:p>
                      <a:endParaRPr lang="en-NZ"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b="1" dirty="0"/>
                        <a:t>0.862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0.591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0.639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0.549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0.867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1352752"/>
                  </a:ext>
                </a:extLst>
              </a:tr>
            </a:tbl>
          </a:graphicData>
        </a:graphic>
      </p:graphicFrame>
    </p:spTree>
    <p:extLst>
      <p:ext uri="{BB962C8B-B14F-4D97-AF65-F5344CB8AC3E}">
        <p14:creationId xmlns:p14="http://schemas.microsoft.com/office/powerpoint/2010/main" val="96446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16449-7063-1AAE-B570-A49EE9545D94}"/>
              </a:ext>
            </a:extLst>
          </p:cNvPr>
          <p:cNvSpPr>
            <a:spLocks noGrp="1"/>
          </p:cNvSpPr>
          <p:nvPr>
            <p:ph type="title"/>
          </p:nvPr>
        </p:nvSpPr>
        <p:spPr/>
        <p:txBody>
          <a:bodyPr/>
          <a:lstStyle/>
          <a:p>
            <a:r>
              <a:rPr lang="en-NZ" dirty="0"/>
              <a:t>The result</a:t>
            </a:r>
          </a:p>
        </p:txBody>
      </p:sp>
      <p:sp>
        <p:nvSpPr>
          <p:cNvPr id="3" name="Content Placeholder 2">
            <a:extLst>
              <a:ext uri="{FF2B5EF4-FFF2-40B4-BE49-F238E27FC236}">
                <a16:creationId xmlns:a16="http://schemas.microsoft.com/office/drawing/2014/main" id="{EFEC8119-AF36-F093-063A-4E67DDE248E4}"/>
              </a:ext>
            </a:extLst>
          </p:cNvPr>
          <p:cNvSpPr>
            <a:spLocks noGrp="1"/>
          </p:cNvSpPr>
          <p:nvPr>
            <p:ph idx="1"/>
          </p:nvPr>
        </p:nvSpPr>
        <p:spPr>
          <a:xfrm>
            <a:off x="677333" y="2160589"/>
            <a:ext cx="9798161" cy="4697411"/>
          </a:xfrm>
        </p:spPr>
        <p:txBody>
          <a:bodyPr>
            <a:normAutofit fontScale="92500" lnSpcReduction="10000"/>
          </a:bodyPr>
          <a:lstStyle/>
          <a:p>
            <a:r>
              <a:rPr lang="en-US" b="1" dirty="0"/>
              <a:t>1. VAE: The Most Balanced Performer</a:t>
            </a:r>
            <a:endParaRPr lang="en-US" dirty="0"/>
          </a:p>
          <a:p>
            <a:pPr lvl="1"/>
            <a:r>
              <a:rPr lang="en-US" b="1" dirty="0"/>
              <a:t>Highest F1-Score (0.629):</a:t>
            </a:r>
            <a:r>
              <a:rPr lang="en-US" dirty="0"/>
              <a:t> It achieves the best overall balance between precision and recall.</a:t>
            </a:r>
          </a:p>
          <a:p>
            <a:pPr lvl="1"/>
            <a:r>
              <a:rPr lang="en-US" b="1" dirty="0"/>
              <a:t>Strong Recall (0.605):</a:t>
            </a:r>
            <a:r>
              <a:rPr lang="en-US" dirty="0"/>
              <a:t> It successfully detects over 60% of attacks.</a:t>
            </a:r>
          </a:p>
          <a:p>
            <a:pPr lvl="1"/>
            <a:r>
              <a:rPr lang="en-US" b="1" dirty="0"/>
              <a:t>Conclusion:</a:t>
            </a:r>
            <a:r>
              <a:rPr lang="en-US" dirty="0"/>
              <a:t> The </a:t>
            </a:r>
            <a:r>
              <a:rPr lang="en-US" b="1" dirty="0"/>
              <a:t>most reliable and practical choice </a:t>
            </a:r>
            <a:r>
              <a:rPr lang="en-US" dirty="0"/>
              <a:t>for general use.</a:t>
            </a:r>
          </a:p>
          <a:p>
            <a:r>
              <a:rPr lang="en-US" b="1" dirty="0"/>
              <a:t>2. Deep SVDD: The Best Discriminator</a:t>
            </a:r>
            <a:endParaRPr lang="en-US" dirty="0"/>
          </a:p>
          <a:p>
            <a:pPr lvl="1"/>
            <a:r>
              <a:rPr lang="en-US" b="1" dirty="0"/>
              <a:t>Highest ROC-AUC (0.862):</a:t>
            </a:r>
            <a:r>
              <a:rPr lang="en-US" dirty="0"/>
              <a:t> It is the best model at fundamentally separating normal traffic from attacks.</a:t>
            </a:r>
          </a:p>
          <a:p>
            <a:pPr lvl="1"/>
            <a:r>
              <a:rPr lang="en-US" b="1" dirty="0"/>
              <a:t>Good Precision (0.639):</a:t>
            </a:r>
            <a:r>
              <a:rPr lang="en-US" dirty="0"/>
              <a:t> When it flags an anomaly, it is often correct.</a:t>
            </a:r>
          </a:p>
          <a:p>
            <a:pPr lvl="1"/>
            <a:r>
              <a:rPr lang="en-US" b="1" dirty="0"/>
              <a:t>Conclusion:</a:t>
            </a:r>
            <a:r>
              <a:rPr lang="en-US" dirty="0"/>
              <a:t> Excellent for environments where </a:t>
            </a:r>
            <a:r>
              <a:rPr lang="en-US" b="1" dirty="0"/>
              <a:t>computational efficiency and clear separat</a:t>
            </a:r>
            <a:r>
              <a:rPr lang="en-US" dirty="0"/>
              <a:t>ion are key.</a:t>
            </a:r>
          </a:p>
          <a:p>
            <a:r>
              <a:rPr lang="en-US" b="1" dirty="0"/>
              <a:t>3. GANomaly: The High-Sensitivity Model</a:t>
            </a:r>
            <a:endParaRPr lang="en-US" dirty="0"/>
          </a:p>
          <a:p>
            <a:pPr lvl="1"/>
            <a:r>
              <a:rPr lang="en-US" b="1" dirty="0"/>
              <a:t>Significant Recall (0.582):</a:t>
            </a:r>
            <a:r>
              <a:rPr lang="en-US" dirty="0"/>
              <a:t> It can detect a wide range of attacks.</a:t>
            </a:r>
          </a:p>
          <a:p>
            <a:pPr lvl="1"/>
            <a:r>
              <a:rPr lang="en-US" b="1" dirty="0"/>
              <a:t>Major Trade-Off:</a:t>
            </a:r>
            <a:r>
              <a:rPr lang="en-US" dirty="0"/>
              <a:t> This comes at the cost of </a:t>
            </a:r>
            <a:r>
              <a:rPr lang="en-US" b="1" dirty="0"/>
              <a:t>low precision (0.389)</a:t>
            </a:r>
            <a:r>
              <a:rPr lang="en-US" dirty="0"/>
              <a:t>, leading to many false alarms.</a:t>
            </a:r>
          </a:p>
          <a:p>
            <a:pPr lvl="1"/>
            <a:r>
              <a:rPr lang="en-US" b="1" dirty="0"/>
              <a:t>Conclusion:</a:t>
            </a:r>
            <a:r>
              <a:rPr lang="en-US" dirty="0"/>
              <a:t> Useful in </a:t>
            </a:r>
            <a:r>
              <a:rPr lang="en-US" b="1" dirty="0"/>
              <a:t>high-security settings</a:t>
            </a:r>
            <a:r>
              <a:rPr lang="en-US" dirty="0"/>
              <a:t> where missing an attack is worse than investigating false alerts.</a:t>
            </a:r>
          </a:p>
          <a:p>
            <a:endParaRPr lang="en-NZ" dirty="0"/>
          </a:p>
        </p:txBody>
      </p:sp>
      <p:graphicFrame>
        <p:nvGraphicFramePr>
          <p:cNvPr id="5" name="Table 4">
            <a:extLst>
              <a:ext uri="{FF2B5EF4-FFF2-40B4-BE49-F238E27FC236}">
                <a16:creationId xmlns:a16="http://schemas.microsoft.com/office/drawing/2014/main" id="{A7D7A80F-BBA5-48A0-7C18-A25FA9C6690D}"/>
              </a:ext>
            </a:extLst>
          </p:cNvPr>
          <p:cNvGraphicFramePr>
            <a:graphicFrameLocks noGrp="1"/>
          </p:cNvGraphicFramePr>
          <p:nvPr>
            <p:extLst>
              <p:ext uri="{D42A27DB-BD31-4B8C-83A1-F6EECF244321}">
                <p14:modId xmlns:p14="http://schemas.microsoft.com/office/powerpoint/2010/main" val="3668059158"/>
              </p:ext>
            </p:extLst>
          </p:nvPr>
        </p:nvGraphicFramePr>
        <p:xfrm>
          <a:off x="4148946" y="292895"/>
          <a:ext cx="8043054" cy="1752600"/>
        </p:xfrm>
        <a:graphic>
          <a:graphicData uri="http://schemas.openxmlformats.org/drawingml/2006/table">
            <a:tbl>
              <a:tblPr firstRow="1" bandRow="1">
                <a:tableStyleId>{10A1B5D5-9B99-4C35-A422-299274C87663}</a:tableStyleId>
              </a:tblPr>
              <a:tblGrid>
                <a:gridCol w="1409631">
                  <a:extLst>
                    <a:ext uri="{9D8B030D-6E8A-4147-A177-3AD203B41FA5}">
                      <a16:colId xmlns:a16="http://schemas.microsoft.com/office/drawing/2014/main" val="146550177"/>
                    </a:ext>
                  </a:extLst>
                </a:gridCol>
                <a:gridCol w="1214755">
                  <a:extLst>
                    <a:ext uri="{9D8B030D-6E8A-4147-A177-3AD203B41FA5}">
                      <a16:colId xmlns:a16="http://schemas.microsoft.com/office/drawing/2014/main" val="955307334"/>
                    </a:ext>
                  </a:extLst>
                </a:gridCol>
                <a:gridCol w="1354667">
                  <a:extLst>
                    <a:ext uri="{9D8B030D-6E8A-4147-A177-3AD203B41FA5}">
                      <a16:colId xmlns:a16="http://schemas.microsoft.com/office/drawing/2014/main" val="3620968751"/>
                    </a:ext>
                  </a:extLst>
                </a:gridCol>
                <a:gridCol w="1354667">
                  <a:extLst>
                    <a:ext uri="{9D8B030D-6E8A-4147-A177-3AD203B41FA5}">
                      <a16:colId xmlns:a16="http://schemas.microsoft.com/office/drawing/2014/main" val="4086496852"/>
                    </a:ext>
                  </a:extLst>
                </a:gridCol>
                <a:gridCol w="1354667">
                  <a:extLst>
                    <a:ext uri="{9D8B030D-6E8A-4147-A177-3AD203B41FA5}">
                      <a16:colId xmlns:a16="http://schemas.microsoft.com/office/drawing/2014/main" val="912397830"/>
                    </a:ext>
                  </a:extLst>
                </a:gridCol>
                <a:gridCol w="1354667">
                  <a:extLst>
                    <a:ext uri="{9D8B030D-6E8A-4147-A177-3AD203B41FA5}">
                      <a16:colId xmlns:a16="http://schemas.microsoft.com/office/drawing/2014/main" val="2397317944"/>
                    </a:ext>
                  </a:extLst>
                </a:gridCol>
              </a:tblGrid>
              <a:tr h="370840">
                <a:tc>
                  <a:txBody>
                    <a:bodyPr/>
                    <a:lstStyle/>
                    <a:p>
                      <a:r>
                        <a:rPr lang="en-NZ" dirty="0"/>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ROC-AUC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F1-Score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Recall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Accuracy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6397204"/>
                  </a:ext>
                </a:extLst>
              </a:tr>
              <a:tr h="370840">
                <a:tc>
                  <a:txBody>
                    <a:bodyPr/>
                    <a:lstStyle/>
                    <a:p>
                      <a:r>
                        <a:rPr lang="en-NZ" dirty="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0.853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b="1" dirty="0"/>
                        <a:t>0.629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0.655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0.605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b="1" dirty="0"/>
                        <a:t>0.880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6442154"/>
                  </a:ext>
                </a:extLst>
              </a:tr>
              <a:tr h="370840">
                <a:tc>
                  <a:txBody>
                    <a:bodyPr/>
                    <a:lstStyle/>
                    <a:p>
                      <a:r>
                        <a:rPr lang="en-NZ" dirty="0"/>
                        <a:t>GANomaly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0.790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0.466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0.389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0.582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0.778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3577176"/>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NZ" dirty="0"/>
                        <a:t>Deep SVDD</a:t>
                      </a:r>
                    </a:p>
                    <a:p>
                      <a:endParaRPr lang="en-NZ"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b="1" dirty="0"/>
                        <a:t>0.862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0.591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NZ" dirty="0"/>
                        <a:t>0.639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0.549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0.867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5533140"/>
                  </a:ext>
                </a:extLst>
              </a:tr>
            </a:tbl>
          </a:graphicData>
        </a:graphic>
      </p:graphicFrame>
    </p:spTree>
    <p:extLst>
      <p:ext uri="{BB962C8B-B14F-4D97-AF65-F5344CB8AC3E}">
        <p14:creationId xmlns:p14="http://schemas.microsoft.com/office/powerpoint/2010/main" val="4161342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5ED7D-51C4-97A8-AB16-6E9B049A7109}"/>
              </a:ext>
            </a:extLst>
          </p:cNvPr>
          <p:cNvSpPr>
            <a:spLocks noGrp="1"/>
          </p:cNvSpPr>
          <p:nvPr>
            <p:ph type="title"/>
          </p:nvPr>
        </p:nvSpPr>
        <p:spPr/>
        <p:txBody>
          <a:bodyPr/>
          <a:lstStyle/>
          <a:p>
            <a:r>
              <a:rPr lang="en-NZ" dirty="0"/>
              <a:t>The results</a:t>
            </a:r>
          </a:p>
        </p:txBody>
      </p:sp>
      <p:sp>
        <p:nvSpPr>
          <p:cNvPr id="3" name="Content Placeholder 2">
            <a:extLst>
              <a:ext uri="{FF2B5EF4-FFF2-40B4-BE49-F238E27FC236}">
                <a16:creationId xmlns:a16="http://schemas.microsoft.com/office/drawing/2014/main" id="{B9A7DBCD-F1E1-2EAC-6096-9668C3FF5A6A}"/>
              </a:ext>
            </a:extLst>
          </p:cNvPr>
          <p:cNvSpPr>
            <a:spLocks noGrp="1"/>
          </p:cNvSpPr>
          <p:nvPr>
            <p:ph idx="1"/>
          </p:nvPr>
        </p:nvSpPr>
        <p:spPr/>
        <p:txBody>
          <a:bodyPr/>
          <a:lstStyle/>
          <a:p>
            <a:r>
              <a:rPr lang="en-NZ" dirty="0"/>
              <a:t>Threshold optimisation effects:</a:t>
            </a:r>
          </a:p>
          <a:p>
            <a:endParaRPr lang="en-NZ" dirty="0"/>
          </a:p>
        </p:txBody>
      </p:sp>
      <p:graphicFrame>
        <p:nvGraphicFramePr>
          <p:cNvPr id="4" name="Table 3">
            <a:extLst>
              <a:ext uri="{FF2B5EF4-FFF2-40B4-BE49-F238E27FC236}">
                <a16:creationId xmlns:a16="http://schemas.microsoft.com/office/drawing/2014/main" id="{6D6D6A2D-FEE7-AA1B-51EA-0899194B00F4}"/>
              </a:ext>
            </a:extLst>
          </p:cNvPr>
          <p:cNvGraphicFramePr>
            <a:graphicFrameLocks noGrp="1"/>
          </p:cNvGraphicFramePr>
          <p:nvPr>
            <p:extLst>
              <p:ext uri="{D42A27DB-BD31-4B8C-83A1-F6EECF244321}">
                <p14:modId xmlns:p14="http://schemas.microsoft.com/office/powerpoint/2010/main" val="222546906"/>
              </p:ext>
            </p:extLst>
          </p:nvPr>
        </p:nvGraphicFramePr>
        <p:xfrm>
          <a:off x="1357146" y="3279616"/>
          <a:ext cx="8128000" cy="1473200"/>
        </p:xfrm>
        <a:graphic>
          <a:graphicData uri="http://schemas.openxmlformats.org/drawingml/2006/table">
            <a:tbl>
              <a:tblPr firstRow="1" bandRow="1">
                <a:tableStyleId>{10A1B5D5-9B99-4C35-A422-299274C87663}</a:tableStyleId>
              </a:tblPr>
              <a:tblGrid>
                <a:gridCol w="2032000">
                  <a:extLst>
                    <a:ext uri="{9D8B030D-6E8A-4147-A177-3AD203B41FA5}">
                      <a16:colId xmlns:a16="http://schemas.microsoft.com/office/drawing/2014/main" val="1721414543"/>
                    </a:ext>
                  </a:extLst>
                </a:gridCol>
                <a:gridCol w="2032000">
                  <a:extLst>
                    <a:ext uri="{9D8B030D-6E8A-4147-A177-3AD203B41FA5}">
                      <a16:colId xmlns:a16="http://schemas.microsoft.com/office/drawing/2014/main" val="3154459160"/>
                    </a:ext>
                  </a:extLst>
                </a:gridCol>
                <a:gridCol w="2032000">
                  <a:extLst>
                    <a:ext uri="{9D8B030D-6E8A-4147-A177-3AD203B41FA5}">
                      <a16:colId xmlns:a16="http://schemas.microsoft.com/office/drawing/2014/main" val="2456396837"/>
                    </a:ext>
                  </a:extLst>
                </a:gridCol>
                <a:gridCol w="2032000">
                  <a:extLst>
                    <a:ext uri="{9D8B030D-6E8A-4147-A177-3AD203B41FA5}">
                      <a16:colId xmlns:a16="http://schemas.microsoft.com/office/drawing/2014/main" val="342136096"/>
                    </a:ext>
                  </a:extLst>
                </a:gridCol>
              </a:tblGrid>
              <a:tr h="345900">
                <a:tc>
                  <a:txBody>
                    <a:bodyPr/>
                    <a:lstStyle/>
                    <a:p>
                      <a:r>
                        <a:rPr lang="en-NZ" dirty="0"/>
                        <a:t>Model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Default Recall</a:t>
                      </a:r>
                      <a:endParaRPr lang="en-NZ"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Optimized Recall </a:t>
                      </a:r>
                      <a:endParaRPr lang="en-NZ"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Improvement</a:t>
                      </a:r>
                      <a:endParaRPr lang="en-NZ"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1704757"/>
                  </a:ext>
                </a:extLst>
              </a:tr>
              <a:tr h="370840">
                <a:tc>
                  <a:txBody>
                    <a:bodyPr/>
                    <a:lstStyle/>
                    <a:p>
                      <a:r>
                        <a:rPr lang="en-NZ" dirty="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0.372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0.605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b="1" dirty="0"/>
                        <a:t>+63%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1707236"/>
                  </a:ext>
                </a:extLst>
              </a:tr>
              <a:tr h="370840">
                <a:tc>
                  <a:txBody>
                    <a:bodyPr/>
                    <a:lstStyle/>
                    <a:p>
                      <a:r>
                        <a:rPr lang="en-NZ" dirty="0"/>
                        <a:t>GANomaly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0.221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0.582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b="1" dirty="0"/>
                        <a:t>+163%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7953093"/>
                  </a:ext>
                </a:extLst>
              </a:tr>
              <a:tr h="0">
                <a:tc>
                  <a:txBody>
                    <a:bodyPr/>
                    <a:lstStyle/>
                    <a:p>
                      <a:r>
                        <a:rPr lang="en-NZ" dirty="0"/>
                        <a:t>Deep SVDD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0.338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0.549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b="1" dirty="0"/>
                        <a:t>+62%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9254483"/>
                  </a:ext>
                </a:extLst>
              </a:tr>
            </a:tbl>
          </a:graphicData>
        </a:graphic>
      </p:graphicFrame>
    </p:spTree>
    <p:extLst>
      <p:ext uri="{BB962C8B-B14F-4D97-AF65-F5344CB8AC3E}">
        <p14:creationId xmlns:p14="http://schemas.microsoft.com/office/powerpoint/2010/main" val="1818151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71594-8844-19B3-DBEB-DCDD2EC0504F}"/>
              </a:ext>
            </a:extLst>
          </p:cNvPr>
          <p:cNvSpPr>
            <a:spLocks noGrp="1"/>
          </p:cNvSpPr>
          <p:nvPr>
            <p:ph type="title"/>
          </p:nvPr>
        </p:nvSpPr>
        <p:spPr/>
        <p:txBody>
          <a:bodyPr/>
          <a:lstStyle/>
          <a:p>
            <a:r>
              <a:rPr lang="en-NZ" dirty="0"/>
              <a:t>The results</a:t>
            </a:r>
          </a:p>
        </p:txBody>
      </p:sp>
      <p:sp>
        <p:nvSpPr>
          <p:cNvPr id="3" name="Content Placeholder 2">
            <a:extLst>
              <a:ext uri="{FF2B5EF4-FFF2-40B4-BE49-F238E27FC236}">
                <a16:creationId xmlns:a16="http://schemas.microsoft.com/office/drawing/2014/main" id="{F75DB3D6-67F7-6D8F-753A-61EDB917847B}"/>
              </a:ext>
            </a:extLst>
          </p:cNvPr>
          <p:cNvSpPr>
            <a:spLocks noGrp="1"/>
          </p:cNvSpPr>
          <p:nvPr>
            <p:ph idx="1"/>
          </p:nvPr>
        </p:nvSpPr>
        <p:spPr>
          <a:xfrm>
            <a:off x="677334" y="2160589"/>
            <a:ext cx="8596668" cy="4697411"/>
          </a:xfrm>
        </p:spPr>
        <p:txBody>
          <a:bodyPr>
            <a:normAutofit fontScale="92500" lnSpcReduction="10000"/>
          </a:bodyPr>
          <a:lstStyle/>
          <a:p>
            <a:r>
              <a:rPr lang="en-US" dirty="0"/>
              <a:t>All models improved by &gt;60% in recall after optimization</a:t>
            </a:r>
          </a:p>
          <a:p>
            <a:r>
              <a:rPr lang="en-US" b="1" dirty="0"/>
              <a:t>GANomaly: The High-Risk, High-Reward Model</a:t>
            </a:r>
            <a:endParaRPr lang="en-US" dirty="0"/>
          </a:p>
          <a:p>
            <a:pPr lvl="1"/>
            <a:r>
              <a:rPr lang="en-US" b="1" dirty="0"/>
              <a:t>+163% recall improvement</a:t>
            </a:r>
            <a:r>
              <a:rPr lang="en-US" dirty="0"/>
              <a:t> - the most dramatic gain</a:t>
            </a:r>
          </a:p>
          <a:p>
            <a:pPr lvl="1"/>
            <a:r>
              <a:rPr lang="en-US" dirty="0"/>
              <a:t>But: </a:t>
            </a:r>
            <a:r>
              <a:rPr lang="en-US" b="1" dirty="0"/>
              <a:t>Major precision trade-off</a:t>
            </a:r>
            <a:r>
              <a:rPr lang="en-US" dirty="0"/>
              <a:t> - many more false alarms</a:t>
            </a:r>
          </a:p>
          <a:p>
            <a:pPr lvl="1"/>
            <a:r>
              <a:rPr lang="en-US" b="1" dirty="0"/>
              <a:t>Lesson:</a:t>
            </a:r>
            <a:r>
              <a:rPr lang="en-US" dirty="0"/>
              <a:t> Extremely sensitive to threshold settings</a:t>
            </a:r>
          </a:p>
          <a:p>
            <a:r>
              <a:rPr lang="en-US" b="1" dirty="0"/>
              <a:t>VAE: The Balanced Champion</a:t>
            </a:r>
            <a:endParaRPr lang="en-US" dirty="0"/>
          </a:p>
          <a:p>
            <a:pPr lvl="1"/>
            <a:r>
              <a:rPr lang="en-US" b="1" dirty="0"/>
              <a:t>+63% recall improvement</a:t>
            </a:r>
            <a:r>
              <a:rPr lang="en-US" dirty="0"/>
              <a:t> while maintaining good precision</a:t>
            </a:r>
          </a:p>
          <a:p>
            <a:pPr lvl="1"/>
            <a:r>
              <a:rPr lang="en-US" b="1" dirty="0"/>
              <a:t>Most stable and reliable</a:t>
            </a:r>
            <a:r>
              <a:rPr lang="en-US" dirty="0"/>
              <a:t> performance</a:t>
            </a:r>
          </a:p>
          <a:p>
            <a:pPr lvl="1"/>
            <a:r>
              <a:rPr lang="en-US" b="1" dirty="0"/>
              <a:t>Lesson:</a:t>
            </a:r>
            <a:r>
              <a:rPr lang="en-US" dirty="0"/>
              <a:t> Best choice for operational environments</a:t>
            </a:r>
          </a:p>
          <a:p>
            <a:r>
              <a:rPr lang="en-US" b="1" dirty="0"/>
              <a:t>Deep SVDD: The Consistent Performer</a:t>
            </a:r>
            <a:endParaRPr lang="en-US" dirty="0"/>
          </a:p>
          <a:p>
            <a:pPr lvl="1"/>
            <a:r>
              <a:rPr lang="en-US" b="1" dirty="0"/>
              <a:t>+62% improvement</a:t>
            </a:r>
            <a:r>
              <a:rPr lang="en-US" dirty="0"/>
              <a:t> with stable performance</a:t>
            </a:r>
          </a:p>
          <a:p>
            <a:pPr lvl="1"/>
            <a:r>
              <a:rPr lang="en-US" b="1" dirty="0"/>
              <a:t>Predictable and manageable</a:t>
            </a:r>
            <a:r>
              <a:rPr lang="en-US" dirty="0"/>
              <a:t> trade-offs</a:t>
            </a:r>
          </a:p>
          <a:p>
            <a:pPr lvl="1"/>
            <a:r>
              <a:rPr lang="en-US" b="1" dirty="0"/>
              <a:t>Lesson:</a:t>
            </a:r>
            <a:r>
              <a:rPr lang="en-US" dirty="0"/>
              <a:t> Reliable for resource-constrained deployments</a:t>
            </a:r>
          </a:p>
          <a:p>
            <a:pPr lvl="1"/>
            <a:endParaRPr lang="en-US" dirty="0"/>
          </a:p>
        </p:txBody>
      </p:sp>
      <p:graphicFrame>
        <p:nvGraphicFramePr>
          <p:cNvPr id="4" name="Table 3">
            <a:extLst>
              <a:ext uri="{FF2B5EF4-FFF2-40B4-BE49-F238E27FC236}">
                <a16:creationId xmlns:a16="http://schemas.microsoft.com/office/drawing/2014/main" id="{87534D54-7AEF-A9EA-210A-1B458D4DED61}"/>
              </a:ext>
            </a:extLst>
          </p:cNvPr>
          <p:cNvGraphicFramePr>
            <a:graphicFrameLocks noGrp="1"/>
          </p:cNvGraphicFramePr>
          <p:nvPr>
            <p:extLst>
              <p:ext uri="{D42A27DB-BD31-4B8C-83A1-F6EECF244321}">
                <p14:modId xmlns:p14="http://schemas.microsoft.com/office/powerpoint/2010/main" val="228357253"/>
              </p:ext>
            </p:extLst>
          </p:nvPr>
        </p:nvGraphicFramePr>
        <p:xfrm>
          <a:off x="3967747" y="203451"/>
          <a:ext cx="8128000" cy="1473200"/>
        </p:xfrm>
        <a:graphic>
          <a:graphicData uri="http://schemas.openxmlformats.org/drawingml/2006/table">
            <a:tbl>
              <a:tblPr firstRow="1" bandRow="1">
                <a:tableStyleId>{10A1B5D5-9B99-4C35-A422-299274C87663}</a:tableStyleId>
              </a:tblPr>
              <a:tblGrid>
                <a:gridCol w="2032000">
                  <a:extLst>
                    <a:ext uri="{9D8B030D-6E8A-4147-A177-3AD203B41FA5}">
                      <a16:colId xmlns:a16="http://schemas.microsoft.com/office/drawing/2014/main" val="2788276741"/>
                    </a:ext>
                  </a:extLst>
                </a:gridCol>
                <a:gridCol w="2032000">
                  <a:extLst>
                    <a:ext uri="{9D8B030D-6E8A-4147-A177-3AD203B41FA5}">
                      <a16:colId xmlns:a16="http://schemas.microsoft.com/office/drawing/2014/main" val="2456854336"/>
                    </a:ext>
                  </a:extLst>
                </a:gridCol>
                <a:gridCol w="2032000">
                  <a:extLst>
                    <a:ext uri="{9D8B030D-6E8A-4147-A177-3AD203B41FA5}">
                      <a16:colId xmlns:a16="http://schemas.microsoft.com/office/drawing/2014/main" val="1314124046"/>
                    </a:ext>
                  </a:extLst>
                </a:gridCol>
                <a:gridCol w="2032000">
                  <a:extLst>
                    <a:ext uri="{9D8B030D-6E8A-4147-A177-3AD203B41FA5}">
                      <a16:colId xmlns:a16="http://schemas.microsoft.com/office/drawing/2014/main" val="1475673337"/>
                    </a:ext>
                  </a:extLst>
                </a:gridCol>
              </a:tblGrid>
              <a:tr h="345900">
                <a:tc>
                  <a:txBody>
                    <a:bodyPr/>
                    <a:lstStyle/>
                    <a:p>
                      <a:r>
                        <a:rPr lang="en-NZ" dirty="0"/>
                        <a:t>Model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Default Recall</a:t>
                      </a:r>
                      <a:endParaRPr lang="en-NZ"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Optimized Recall </a:t>
                      </a:r>
                      <a:endParaRPr lang="en-NZ"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Improvement</a:t>
                      </a:r>
                      <a:endParaRPr lang="en-NZ"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6959429"/>
                  </a:ext>
                </a:extLst>
              </a:tr>
              <a:tr h="370840">
                <a:tc>
                  <a:txBody>
                    <a:bodyPr/>
                    <a:lstStyle/>
                    <a:p>
                      <a:r>
                        <a:rPr lang="en-NZ" dirty="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0.372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0.605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b="1" dirty="0"/>
                        <a:t>+63%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4296486"/>
                  </a:ext>
                </a:extLst>
              </a:tr>
              <a:tr h="370840">
                <a:tc>
                  <a:txBody>
                    <a:bodyPr/>
                    <a:lstStyle/>
                    <a:p>
                      <a:r>
                        <a:rPr lang="en-NZ" dirty="0"/>
                        <a:t>GANomaly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0.221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0.582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b="1" dirty="0"/>
                        <a:t>+163%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1139137"/>
                  </a:ext>
                </a:extLst>
              </a:tr>
              <a:tr h="0">
                <a:tc>
                  <a:txBody>
                    <a:bodyPr/>
                    <a:lstStyle/>
                    <a:p>
                      <a:r>
                        <a:rPr lang="en-NZ" dirty="0"/>
                        <a:t>Deep SVDD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0.338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dirty="0"/>
                        <a:t>0.549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NZ" b="1" dirty="0"/>
                        <a:t>+62%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7668737"/>
                  </a:ext>
                </a:extLst>
              </a:tr>
            </a:tbl>
          </a:graphicData>
        </a:graphic>
      </p:graphicFrame>
      <p:pic>
        <p:nvPicPr>
          <p:cNvPr id="5130" name="Picture 10">
            <a:extLst>
              <a:ext uri="{FF2B5EF4-FFF2-40B4-BE49-F238E27FC236}">
                <a16:creationId xmlns:a16="http://schemas.microsoft.com/office/drawing/2014/main" id="{60ACF0D1-C037-AA6D-D98F-1D665716897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931" t="48575" r="-1" b="1"/>
          <a:stretch>
            <a:fillRect/>
          </a:stretch>
        </p:blipFill>
        <p:spPr bwMode="auto">
          <a:xfrm>
            <a:off x="7257328" y="2417572"/>
            <a:ext cx="4590820" cy="3513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2868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AF13D-2B39-885D-6AE4-D59431858A73}"/>
              </a:ext>
            </a:extLst>
          </p:cNvPr>
          <p:cNvSpPr>
            <a:spLocks noGrp="1"/>
          </p:cNvSpPr>
          <p:nvPr>
            <p:ph type="title"/>
          </p:nvPr>
        </p:nvSpPr>
        <p:spPr/>
        <p:txBody>
          <a:bodyPr/>
          <a:lstStyle/>
          <a:p>
            <a:endParaRPr lang="en-NZ" dirty="0"/>
          </a:p>
        </p:txBody>
      </p:sp>
      <p:pic>
        <p:nvPicPr>
          <p:cNvPr id="5126" name="Picture 6">
            <a:extLst>
              <a:ext uri="{FF2B5EF4-FFF2-40B4-BE49-F238E27FC236}">
                <a16:creationId xmlns:a16="http://schemas.microsoft.com/office/drawing/2014/main" id="{BCBF2FFA-D102-07C2-2BA3-403950A21A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4045" y="824846"/>
            <a:ext cx="7241448" cy="5423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29528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5D8C7-8E55-B55E-8D1F-2BB2662324F7}"/>
              </a:ext>
            </a:extLst>
          </p:cNvPr>
          <p:cNvSpPr>
            <a:spLocks noGrp="1"/>
          </p:cNvSpPr>
          <p:nvPr>
            <p:ph type="title"/>
          </p:nvPr>
        </p:nvSpPr>
        <p:spPr/>
        <p:txBody>
          <a:bodyPr/>
          <a:lstStyle/>
          <a:p>
            <a:endParaRPr lang="en-NZ"/>
          </a:p>
        </p:txBody>
      </p:sp>
      <p:pic>
        <p:nvPicPr>
          <p:cNvPr id="5128" name="Picture 8">
            <a:extLst>
              <a:ext uri="{FF2B5EF4-FFF2-40B4-BE49-F238E27FC236}">
                <a16:creationId xmlns:a16="http://schemas.microsoft.com/office/drawing/2014/main" id="{73FCB62F-B04C-6DA3-4910-AB3DE71BCDA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47608" y="1270000"/>
            <a:ext cx="6417249" cy="5012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57528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2967E-EEBD-9D60-881B-5D41BF3404D0}"/>
              </a:ext>
            </a:extLst>
          </p:cNvPr>
          <p:cNvSpPr>
            <a:spLocks noGrp="1"/>
          </p:cNvSpPr>
          <p:nvPr>
            <p:ph type="title"/>
          </p:nvPr>
        </p:nvSpPr>
        <p:spPr/>
        <p:txBody>
          <a:bodyPr/>
          <a:lstStyle/>
          <a:p>
            <a:r>
              <a:rPr lang="en-NZ" dirty="0"/>
              <a:t>Why we saw these results?</a:t>
            </a:r>
          </a:p>
        </p:txBody>
      </p:sp>
      <p:sp>
        <p:nvSpPr>
          <p:cNvPr id="3" name="Content Placeholder 2">
            <a:extLst>
              <a:ext uri="{FF2B5EF4-FFF2-40B4-BE49-F238E27FC236}">
                <a16:creationId xmlns:a16="http://schemas.microsoft.com/office/drawing/2014/main" id="{B44897DE-C7BB-0151-7A0E-9ED01C79487D}"/>
              </a:ext>
            </a:extLst>
          </p:cNvPr>
          <p:cNvSpPr>
            <a:spLocks noGrp="1"/>
          </p:cNvSpPr>
          <p:nvPr>
            <p:ph idx="1"/>
          </p:nvPr>
        </p:nvSpPr>
        <p:spPr>
          <a:xfrm>
            <a:off x="677333" y="2160589"/>
            <a:ext cx="9161147" cy="4309659"/>
          </a:xfrm>
        </p:spPr>
        <p:txBody>
          <a:bodyPr>
            <a:normAutofit fontScale="85000" lnSpcReduction="20000"/>
          </a:bodyPr>
          <a:lstStyle/>
          <a:p>
            <a:r>
              <a:rPr lang="en-US" b="1" dirty="0"/>
              <a:t>GANomaly's Volatility: The Price of Adversarial Training</a:t>
            </a:r>
            <a:endParaRPr lang="en-US" dirty="0"/>
          </a:p>
          <a:p>
            <a:pPr lvl="1"/>
            <a:r>
              <a:rPr lang="en-US" b="1" dirty="0"/>
              <a:t>Inherent Instability:</a:t>
            </a:r>
            <a:r>
              <a:rPr lang="en-US" dirty="0"/>
              <a:t> GAN training is famously unstable - the generator and discriminator are in constant competition</a:t>
            </a:r>
          </a:p>
          <a:p>
            <a:pPr lvl="1"/>
            <a:r>
              <a:rPr lang="en-US" b="1" dirty="0"/>
              <a:t>High Sensitivity:</a:t>
            </a:r>
            <a:r>
              <a:rPr lang="en-US" dirty="0"/>
              <a:t> This makes the model very sensitive to hyperparameters and thresholds</a:t>
            </a:r>
          </a:p>
          <a:p>
            <a:pPr lvl="1"/>
            <a:r>
              <a:rPr lang="en-US" b="1" dirty="0"/>
              <a:t>Result:</a:t>
            </a:r>
            <a:r>
              <a:rPr lang="en-US" dirty="0"/>
              <a:t> Dramatic performance swings (+163% recall) but major precision trade-offs</a:t>
            </a:r>
          </a:p>
          <a:p>
            <a:r>
              <a:rPr lang="en-US" b="1" dirty="0"/>
              <a:t>VAE's Stability: The Benefit of Probabilistic Design</a:t>
            </a:r>
            <a:endParaRPr lang="en-US" dirty="0"/>
          </a:p>
          <a:p>
            <a:pPr lvl="1"/>
            <a:r>
              <a:rPr lang="en-US" b="1" dirty="0"/>
              <a:t>Solid Foundation:</a:t>
            </a:r>
            <a:r>
              <a:rPr lang="en-US" dirty="0"/>
              <a:t> Probabilistic approach creates a robust, smooth latent space</a:t>
            </a:r>
          </a:p>
          <a:p>
            <a:pPr lvl="1"/>
            <a:r>
              <a:rPr lang="en-US" b="1" dirty="0"/>
              <a:t>Better Generalization:</a:t>
            </a:r>
            <a:r>
              <a:rPr lang="en-US" dirty="0"/>
              <a:t> Learns the "essence" of normal data rather than memorizing it</a:t>
            </a:r>
          </a:p>
          <a:p>
            <a:pPr lvl="1"/>
            <a:r>
              <a:rPr lang="en-US" b="1" dirty="0"/>
              <a:t>Result:</a:t>
            </a:r>
            <a:r>
              <a:rPr lang="en-US" dirty="0"/>
              <a:t> Consistent, balanced improvements across all metrics</a:t>
            </a:r>
          </a:p>
          <a:p>
            <a:r>
              <a:rPr lang="en-US" b="1" dirty="0"/>
              <a:t>Deep SVDD's Efficiency: The Power of Focused Learning</a:t>
            </a:r>
            <a:endParaRPr lang="en-US" dirty="0"/>
          </a:p>
          <a:p>
            <a:pPr lvl="1"/>
            <a:r>
              <a:rPr lang="en-US" b="1" dirty="0"/>
              <a:t>Single Objective:</a:t>
            </a:r>
            <a:r>
              <a:rPr lang="en-US" dirty="0"/>
              <a:t> Directly minimizes the hypersphere volume - no reconstruction complexity</a:t>
            </a:r>
          </a:p>
          <a:p>
            <a:pPr lvl="1"/>
            <a:r>
              <a:rPr lang="en-US" b="1" dirty="0"/>
              <a:t>Computational Stability:</a:t>
            </a:r>
            <a:r>
              <a:rPr lang="en-US" dirty="0"/>
              <a:t> More predictable optimization landscape</a:t>
            </a:r>
          </a:p>
          <a:p>
            <a:pPr lvl="1"/>
            <a:r>
              <a:rPr lang="en-US" b="1" dirty="0"/>
              <a:t>Result:</a:t>
            </a:r>
            <a:r>
              <a:rPr lang="en-US" dirty="0"/>
              <a:t> Stable, reliable improvements without dramatic swings</a:t>
            </a:r>
          </a:p>
          <a:p>
            <a:r>
              <a:rPr lang="en-US" b="1" dirty="0">
                <a:highlight>
                  <a:srgbClr val="FFFF00"/>
                </a:highlight>
              </a:rPr>
              <a:t>The Pattern</a:t>
            </a:r>
            <a:r>
              <a:rPr lang="en-US" b="1" dirty="0"/>
              <a:t>:</a:t>
            </a:r>
            <a:r>
              <a:rPr lang="en-US" dirty="0"/>
              <a:t> More complex training (adversarial) → Higher potential but less stability</a:t>
            </a:r>
          </a:p>
          <a:p>
            <a:endParaRPr lang="en-NZ" dirty="0"/>
          </a:p>
        </p:txBody>
      </p:sp>
    </p:spTree>
    <p:extLst>
      <p:ext uri="{BB962C8B-B14F-4D97-AF65-F5344CB8AC3E}">
        <p14:creationId xmlns:p14="http://schemas.microsoft.com/office/powerpoint/2010/main" val="37026524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D5698-3EEF-E8A6-92A9-8020F0D8AB9F}"/>
              </a:ext>
            </a:extLst>
          </p:cNvPr>
          <p:cNvSpPr>
            <a:spLocks noGrp="1"/>
          </p:cNvSpPr>
          <p:nvPr>
            <p:ph type="title"/>
          </p:nvPr>
        </p:nvSpPr>
        <p:spPr/>
        <p:txBody>
          <a:bodyPr/>
          <a:lstStyle/>
          <a:p>
            <a:r>
              <a:rPr lang="en-NZ" dirty="0"/>
              <a:t>Recommendations</a:t>
            </a:r>
          </a:p>
        </p:txBody>
      </p:sp>
      <p:sp>
        <p:nvSpPr>
          <p:cNvPr id="3" name="Content Placeholder 2">
            <a:extLst>
              <a:ext uri="{FF2B5EF4-FFF2-40B4-BE49-F238E27FC236}">
                <a16:creationId xmlns:a16="http://schemas.microsoft.com/office/drawing/2014/main" id="{437141B0-2CBC-4D30-E23A-E265D926444D}"/>
              </a:ext>
            </a:extLst>
          </p:cNvPr>
          <p:cNvSpPr>
            <a:spLocks noGrp="1"/>
          </p:cNvSpPr>
          <p:nvPr>
            <p:ph idx="1"/>
          </p:nvPr>
        </p:nvSpPr>
        <p:spPr/>
        <p:txBody>
          <a:bodyPr/>
          <a:lstStyle/>
          <a:p>
            <a:r>
              <a:rPr lang="en-US" b="1" dirty="0"/>
              <a:t>Actionable Recommendations for Security Teams:</a:t>
            </a:r>
            <a:endParaRPr lang="en-US" dirty="0"/>
          </a:p>
          <a:p>
            <a:pPr lvl="1"/>
            <a:r>
              <a:rPr lang="en-US" b="1" dirty="0"/>
              <a:t>For Most Companies:</a:t>
            </a:r>
            <a:r>
              <a:rPr lang="en-US" dirty="0"/>
              <a:t> Use </a:t>
            </a:r>
            <a:r>
              <a:rPr lang="en-US" b="1" dirty="0"/>
              <a:t>VAE</a:t>
            </a:r>
            <a:r>
              <a:rPr lang="en-US" dirty="0"/>
              <a:t>. Its stability and balanced performance prevent alert fatigue and provide reliable detection.</a:t>
            </a:r>
          </a:p>
          <a:p>
            <a:pPr lvl="1"/>
            <a:r>
              <a:rPr lang="en-US" b="1" dirty="0"/>
              <a:t>For High-Security, Resource-Rich Environments:</a:t>
            </a:r>
            <a:r>
              <a:rPr lang="en-US" dirty="0"/>
              <a:t> Consider </a:t>
            </a:r>
            <a:r>
              <a:rPr lang="en-US" b="1" dirty="0"/>
              <a:t>GANomaly</a:t>
            </a:r>
            <a:r>
              <a:rPr lang="en-US" dirty="0"/>
              <a:t>. If you can afford to investigate many false positives, its high recall can help catch subtle, advanced threats.</a:t>
            </a:r>
          </a:p>
          <a:p>
            <a:pPr lvl="1"/>
            <a:r>
              <a:rPr lang="en-US" b="1" dirty="0"/>
              <a:t>For Large-Scale Monitoring with Limited Resources:</a:t>
            </a:r>
            <a:r>
              <a:rPr lang="en-US" dirty="0"/>
              <a:t> Use </a:t>
            </a:r>
            <a:r>
              <a:rPr lang="en-US" b="1" dirty="0"/>
              <a:t>Deep SVDD</a:t>
            </a:r>
            <a:r>
              <a:rPr lang="en-US" dirty="0"/>
              <a:t>. Its computational efficiency and fast inference make it ideal for scanning vast amounts of traffic.</a:t>
            </a:r>
          </a:p>
          <a:p>
            <a:endParaRPr lang="en-NZ" dirty="0"/>
          </a:p>
        </p:txBody>
      </p:sp>
    </p:spTree>
    <p:extLst>
      <p:ext uri="{BB962C8B-B14F-4D97-AF65-F5344CB8AC3E}">
        <p14:creationId xmlns:p14="http://schemas.microsoft.com/office/powerpoint/2010/main" val="22898427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AC6B3-C3A0-52AF-6A29-54A98A04501F}"/>
              </a:ext>
            </a:extLst>
          </p:cNvPr>
          <p:cNvSpPr>
            <a:spLocks noGrp="1"/>
          </p:cNvSpPr>
          <p:nvPr>
            <p:ph type="title"/>
          </p:nvPr>
        </p:nvSpPr>
        <p:spPr/>
        <p:txBody>
          <a:bodyPr>
            <a:normAutofit fontScale="90000"/>
          </a:bodyPr>
          <a:lstStyle/>
          <a:p>
            <a:r>
              <a:rPr lang="en-NZ" dirty="0"/>
              <a:t>Recommendation</a:t>
            </a:r>
            <a:br>
              <a:rPr lang="en-NZ" b="1" dirty="0"/>
            </a:br>
            <a:br>
              <a:rPr lang="en-NZ" dirty="0"/>
            </a:br>
            <a:endParaRPr lang="en-NZ" dirty="0"/>
          </a:p>
        </p:txBody>
      </p:sp>
      <p:sp>
        <p:nvSpPr>
          <p:cNvPr id="3" name="Content Placeholder 2">
            <a:extLst>
              <a:ext uri="{FF2B5EF4-FFF2-40B4-BE49-F238E27FC236}">
                <a16:creationId xmlns:a16="http://schemas.microsoft.com/office/drawing/2014/main" id="{7F202E41-C3D4-F431-41D0-F5120BDF8288}"/>
              </a:ext>
            </a:extLst>
          </p:cNvPr>
          <p:cNvSpPr>
            <a:spLocks noGrp="1"/>
          </p:cNvSpPr>
          <p:nvPr>
            <p:ph idx="1"/>
          </p:nvPr>
        </p:nvSpPr>
        <p:spPr/>
        <p:txBody>
          <a:bodyPr/>
          <a:lstStyle/>
          <a:p>
            <a:r>
              <a:rPr lang="en-US" dirty="0"/>
              <a:t>Based on our results, I recommend the Variational Autoencoder (VAE) for most practical deployments, as it provides the most reliable balance between detecting attacks and maintaining a manageable false alarm rate.</a:t>
            </a:r>
            <a:endParaRPr lang="en-NZ" dirty="0"/>
          </a:p>
        </p:txBody>
      </p:sp>
      <p:pic>
        <p:nvPicPr>
          <p:cNvPr id="6" name="Picture 4" descr="Variational autoencoder - Wikipedia">
            <a:extLst>
              <a:ext uri="{FF2B5EF4-FFF2-40B4-BE49-F238E27FC236}">
                <a16:creationId xmlns:a16="http://schemas.microsoft.com/office/drawing/2014/main" id="{6A669AAB-F49C-11CE-CE61-10C079F110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698" y="3448764"/>
            <a:ext cx="6010112" cy="2592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05215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CA73F-FA9B-BF21-6F9B-DE74337084CA}"/>
              </a:ext>
            </a:extLst>
          </p:cNvPr>
          <p:cNvSpPr>
            <a:spLocks noGrp="1"/>
          </p:cNvSpPr>
          <p:nvPr>
            <p:ph type="title"/>
          </p:nvPr>
        </p:nvSpPr>
        <p:spPr/>
        <p:txBody>
          <a:bodyPr/>
          <a:lstStyle/>
          <a:p>
            <a:r>
              <a:rPr lang="en-NZ" dirty="0"/>
              <a:t>Discussion &amp; future</a:t>
            </a:r>
          </a:p>
        </p:txBody>
      </p:sp>
      <p:sp>
        <p:nvSpPr>
          <p:cNvPr id="3" name="Content Placeholder 2">
            <a:extLst>
              <a:ext uri="{FF2B5EF4-FFF2-40B4-BE49-F238E27FC236}">
                <a16:creationId xmlns:a16="http://schemas.microsoft.com/office/drawing/2014/main" id="{CEC2F939-4A8A-BB89-432F-1E6714E0F89C}"/>
              </a:ext>
            </a:extLst>
          </p:cNvPr>
          <p:cNvSpPr>
            <a:spLocks noGrp="1"/>
          </p:cNvSpPr>
          <p:nvPr>
            <p:ph idx="1"/>
          </p:nvPr>
        </p:nvSpPr>
        <p:spPr>
          <a:xfrm>
            <a:off x="677334" y="2160589"/>
            <a:ext cx="8596668" cy="4494854"/>
          </a:xfrm>
        </p:spPr>
        <p:txBody>
          <a:bodyPr>
            <a:normAutofit lnSpcReduction="10000"/>
          </a:bodyPr>
          <a:lstStyle/>
          <a:p>
            <a:r>
              <a:rPr lang="en-US" b="1" dirty="0"/>
              <a:t>Key Insights:</a:t>
            </a:r>
            <a:endParaRPr lang="en-US" dirty="0"/>
          </a:p>
          <a:p>
            <a:pPr lvl="1"/>
            <a:r>
              <a:rPr lang="en-US" b="1" dirty="0"/>
              <a:t>No Single "Best" Model:</a:t>
            </a:r>
            <a:r>
              <a:rPr lang="en-US" dirty="0"/>
              <a:t> The optimal choice depends on the specific network environment, data type, and security priorities. Our results are a </a:t>
            </a:r>
            <a:r>
              <a:rPr lang="en-US" b="1" dirty="0"/>
              <a:t>practical guide</a:t>
            </a:r>
            <a:r>
              <a:rPr lang="en-US" dirty="0"/>
              <a:t>, not a definitive answer for all scenarios.</a:t>
            </a:r>
          </a:p>
          <a:p>
            <a:pPr lvl="1"/>
            <a:r>
              <a:rPr lang="en-US" b="1" dirty="0"/>
              <a:t>The Power of Ensembles:</a:t>
            </a:r>
            <a:r>
              <a:rPr lang="en-US" dirty="0"/>
              <a:t> The most robust future system might </a:t>
            </a:r>
            <a:r>
              <a:rPr lang="en-US" b="1" dirty="0"/>
              <a:t>combine these models</a:t>
            </a:r>
            <a:r>
              <a:rPr lang="en-US" dirty="0"/>
              <a:t>. For example, using Deep SVDD as a fast first-pass filter and VAE for deeper analysis could yield superior performance.</a:t>
            </a:r>
          </a:p>
          <a:p>
            <a:r>
              <a:rPr lang="en-US" b="1" dirty="0"/>
              <a:t>Future Work:</a:t>
            </a:r>
          </a:p>
          <a:p>
            <a:pPr lvl="1"/>
            <a:r>
              <a:rPr lang="en-US" b="1" dirty="0"/>
              <a:t>Expand Evaluation:</a:t>
            </a:r>
            <a:r>
              <a:rPr lang="en-US" dirty="0"/>
              <a:t> Test on more diverse datasets from different organizations to ensure broader applicability.</a:t>
            </a:r>
          </a:p>
          <a:p>
            <a:pPr lvl="1"/>
            <a:r>
              <a:rPr lang="en-US" b="1" dirty="0"/>
              <a:t>Enhance Explainability:</a:t>
            </a:r>
            <a:r>
              <a:rPr lang="en-US" dirty="0"/>
              <a:t> Investigate explainable AI (XAI) to tell security analysts </a:t>
            </a:r>
            <a:r>
              <a:rPr lang="en-US" i="1" dirty="0"/>
              <a:t>why</a:t>
            </a:r>
            <a:r>
              <a:rPr lang="en-US" dirty="0"/>
              <a:t> a flow was flagged, which is critical for trust and effective response.</a:t>
            </a:r>
          </a:p>
          <a:p>
            <a:pPr lvl="1"/>
            <a:r>
              <a:rPr lang="en-US" b="1" dirty="0"/>
              <a:t>Towards Continuous Defense:</a:t>
            </a:r>
            <a:r>
              <a:rPr lang="en-US" dirty="0"/>
              <a:t> The ultimate goal is a system that runs </a:t>
            </a:r>
            <a:r>
              <a:rPr lang="en-US" b="1" dirty="0"/>
              <a:t>autonomously in real-time</a:t>
            </a:r>
            <a:r>
              <a:rPr lang="en-US" dirty="0"/>
              <a:t>, learning normal behavior and flagging anomalies as they occur on the network.</a:t>
            </a:r>
          </a:p>
          <a:p>
            <a:pPr lvl="1"/>
            <a:endParaRPr lang="en-US" dirty="0"/>
          </a:p>
        </p:txBody>
      </p:sp>
    </p:spTree>
    <p:extLst>
      <p:ext uri="{BB962C8B-B14F-4D97-AF65-F5344CB8AC3E}">
        <p14:creationId xmlns:p14="http://schemas.microsoft.com/office/powerpoint/2010/main" val="3784919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24BD-D20C-35CE-C4CB-EF8413F3463C}"/>
              </a:ext>
            </a:extLst>
          </p:cNvPr>
          <p:cNvSpPr>
            <a:spLocks noGrp="1"/>
          </p:cNvSpPr>
          <p:nvPr>
            <p:ph type="title"/>
          </p:nvPr>
        </p:nvSpPr>
        <p:spPr/>
        <p:txBody>
          <a:bodyPr/>
          <a:lstStyle/>
          <a:p>
            <a:r>
              <a:rPr lang="en-NZ" dirty="0"/>
              <a:t>Limitations</a:t>
            </a:r>
          </a:p>
        </p:txBody>
      </p:sp>
      <p:sp>
        <p:nvSpPr>
          <p:cNvPr id="3" name="Content Placeholder 2">
            <a:extLst>
              <a:ext uri="{FF2B5EF4-FFF2-40B4-BE49-F238E27FC236}">
                <a16:creationId xmlns:a16="http://schemas.microsoft.com/office/drawing/2014/main" id="{F3FC241C-6836-2A0D-3CE7-80E8F8A4E044}"/>
              </a:ext>
            </a:extLst>
          </p:cNvPr>
          <p:cNvSpPr>
            <a:spLocks noGrp="1"/>
          </p:cNvSpPr>
          <p:nvPr>
            <p:ph idx="1"/>
          </p:nvPr>
        </p:nvSpPr>
        <p:spPr/>
        <p:txBody>
          <a:bodyPr>
            <a:normAutofit fontScale="85000" lnSpcReduction="20000"/>
          </a:bodyPr>
          <a:lstStyle/>
          <a:p>
            <a:endParaRPr lang="en-US" dirty="0"/>
          </a:p>
          <a:p>
            <a:r>
              <a:rPr lang="en-US" b="1" dirty="0"/>
              <a:t>1. Dataset Scope:</a:t>
            </a:r>
            <a:endParaRPr lang="en-US" dirty="0"/>
          </a:p>
          <a:p>
            <a:pPr lvl="1"/>
            <a:r>
              <a:rPr lang="en-US" b="1" dirty="0"/>
              <a:t>Single Benchmark:</a:t>
            </a:r>
            <a:r>
              <a:rPr lang="en-US" dirty="0"/>
              <a:t> Our evaluation was conducted on the CIC-IDS2017 dataset. While it's a realistic benchmark, performance may vary across different network environments (e.g., a university network vs. a corporate data center).</a:t>
            </a:r>
          </a:p>
          <a:p>
            <a:r>
              <a:rPr lang="en-US" b="1" dirty="0"/>
              <a:t>2. Operational Overhead:</a:t>
            </a:r>
            <a:endParaRPr lang="en-US" dirty="0"/>
          </a:p>
          <a:p>
            <a:pPr lvl="1"/>
            <a:r>
              <a:rPr lang="en-US" b="1" dirty="0"/>
              <a:t>Computational Cost:</a:t>
            </a:r>
            <a:r>
              <a:rPr lang="en-US" dirty="0"/>
              <a:t> This study focused on detection accuracy. A full deployment analysis would require measuring the computational cost, latency, and scalability of each model in a real-time streaming environment.</a:t>
            </a:r>
          </a:p>
          <a:p>
            <a:pPr lvl="1"/>
            <a:r>
              <a:rPr lang="en-US" b="1" dirty="0"/>
              <a:t>Concept Drift:</a:t>
            </a:r>
            <a:r>
              <a:rPr lang="en-US" dirty="0"/>
              <a:t> Networks evolve over time. Our static evaluation does not address the challenge of continuous retraining to adapt to new "normal" behavior.</a:t>
            </a:r>
          </a:p>
          <a:p>
            <a:r>
              <a:rPr lang="en-US" b="1" dirty="0"/>
              <a:t>3. Architectural Scope:</a:t>
            </a:r>
            <a:endParaRPr lang="en-US" dirty="0"/>
          </a:p>
          <a:p>
            <a:pPr lvl="1"/>
            <a:r>
              <a:rPr lang="en-US" b="1" dirty="0"/>
              <a:t>Focused Comparison:</a:t>
            </a:r>
            <a:r>
              <a:rPr lang="en-US" dirty="0"/>
              <a:t> We compared three specific architectures. Other promising deep learning models (e.g., Transformers for sequences, Graph Neural Networks for network connections) were outside the scope of this study including ensemble methods.</a:t>
            </a:r>
          </a:p>
          <a:p>
            <a:endParaRPr lang="en-NZ" dirty="0"/>
          </a:p>
        </p:txBody>
      </p:sp>
    </p:spTree>
    <p:extLst>
      <p:ext uri="{BB962C8B-B14F-4D97-AF65-F5344CB8AC3E}">
        <p14:creationId xmlns:p14="http://schemas.microsoft.com/office/powerpoint/2010/main" val="32591339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8CBCB-7258-B6EC-D723-5F601350306A}"/>
              </a:ext>
            </a:extLst>
          </p:cNvPr>
          <p:cNvSpPr>
            <a:spLocks noGrp="1"/>
          </p:cNvSpPr>
          <p:nvPr>
            <p:ph type="title"/>
          </p:nvPr>
        </p:nvSpPr>
        <p:spPr/>
        <p:txBody>
          <a:bodyPr/>
          <a:lstStyle/>
          <a:p>
            <a:r>
              <a:rPr lang="en-NZ" dirty="0"/>
              <a:t>Ethics and Social implications</a:t>
            </a:r>
          </a:p>
        </p:txBody>
      </p:sp>
      <p:sp>
        <p:nvSpPr>
          <p:cNvPr id="3" name="Content Placeholder 2">
            <a:extLst>
              <a:ext uri="{FF2B5EF4-FFF2-40B4-BE49-F238E27FC236}">
                <a16:creationId xmlns:a16="http://schemas.microsoft.com/office/drawing/2014/main" id="{BA842175-41BB-BED2-B947-ECE7CA32E684}"/>
              </a:ext>
            </a:extLst>
          </p:cNvPr>
          <p:cNvSpPr>
            <a:spLocks noGrp="1"/>
          </p:cNvSpPr>
          <p:nvPr>
            <p:ph idx="1"/>
          </p:nvPr>
        </p:nvSpPr>
        <p:spPr/>
        <p:txBody>
          <a:bodyPr>
            <a:normAutofit fontScale="92500" lnSpcReduction="20000"/>
          </a:bodyPr>
          <a:lstStyle/>
          <a:p>
            <a:r>
              <a:rPr lang="en-US" b="1" dirty="0"/>
              <a:t>1. Privacy and Anonymization:</a:t>
            </a:r>
            <a:endParaRPr lang="en-US" dirty="0"/>
          </a:p>
          <a:p>
            <a:pPr lvl="1"/>
            <a:r>
              <a:rPr lang="en-US" dirty="0"/>
              <a:t>We used exclusively </a:t>
            </a:r>
            <a:r>
              <a:rPr lang="en-US" b="1" dirty="0"/>
              <a:t>public, pre-anonymized datasets</a:t>
            </a:r>
            <a:r>
              <a:rPr lang="en-US" dirty="0"/>
              <a:t>. No private user or organizational data was accessed, ensuring compliance with privacy standards.</a:t>
            </a:r>
          </a:p>
          <a:p>
            <a:r>
              <a:rPr lang="en-US" b="1" dirty="0"/>
              <a:t>2. Potential for Misuse:</a:t>
            </a:r>
            <a:endParaRPr lang="en-US" dirty="0"/>
          </a:p>
          <a:p>
            <a:pPr lvl="1"/>
            <a:r>
              <a:rPr lang="en-US" dirty="0"/>
              <a:t>While our research is for </a:t>
            </a:r>
            <a:r>
              <a:rPr lang="en-US" b="1" dirty="0"/>
              <a:t>defensive cybersecurity</a:t>
            </a:r>
            <a:r>
              <a:rPr lang="en-US" dirty="0"/>
              <a:t>, the same technology could potentially be misused for mass surveillance or invasive monitoring. We strongly advocate for its use only within ethical and legal frameworks.</a:t>
            </a:r>
          </a:p>
          <a:p>
            <a:r>
              <a:rPr lang="en-US" b="1" dirty="0"/>
              <a:t>3. Algorithmic Bias and Fairness:</a:t>
            </a:r>
            <a:endParaRPr lang="en-US" dirty="0"/>
          </a:p>
          <a:p>
            <a:pPr lvl="1"/>
            <a:r>
              <a:rPr lang="en-US" dirty="0"/>
              <a:t>Models learn from historical data. If this data reflects existing biases (e.g., flagging traffic from certain countries or departments as anomalous), the system could </a:t>
            </a:r>
            <a:r>
              <a:rPr lang="en-US" b="1" dirty="0"/>
              <a:t>amplify these biases</a:t>
            </a:r>
            <a:r>
              <a:rPr lang="en-US" dirty="0"/>
              <a:t>. Continuous monitoring for discriminatory outcomes is essential.</a:t>
            </a:r>
          </a:p>
          <a:p>
            <a:r>
              <a:rPr lang="en-US" b="1" dirty="0"/>
              <a:t>4. Transparency and Accountability:</a:t>
            </a:r>
            <a:endParaRPr lang="en-US" dirty="0"/>
          </a:p>
          <a:p>
            <a:pPr lvl="1"/>
            <a:r>
              <a:rPr lang="en-US" dirty="0"/>
              <a:t>Deep learning models can be "black boxes." The significant impact of </a:t>
            </a:r>
            <a:r>
              <a:rPr lang="en-US" b="1" dirty="0"/>
              <a:t>threshold optimization</a:t>
            </a:r>
            <a:r>
              <a:rPr lang="en-US" dirty="0"/>
              <a:t> underscores the need for transparent operational parameters. Security analysts need to understand </a:t>
            </a:r>
            <a:r>
              <a:rPr lang="en-US" i="1" dirty="0"/>
              <a:t>why</a:t>
            </a:r>
            <a:r>
              <a:rPr lang="en-US" dirty="0"/>
              <a:t> an alert was generated to make informed decisions.</a:t>
            </a:r>
          </a:p>
          <a:p>
            <a:pPr marL="0" indent="0">
              <a:buNone/>
            </a:pPr>
            <a:endParaRPr lang="en-NZ" dirty="0"/>
          </a:p>
          <a:p>
            <a:endParaRPr lang="en-NZ" dirty="0"/>
          </a:p>
        </p:txBody>
      </p:sp>
    </p:spTree>
    <p:extLst>
      <p:ext uri="{BB962C8B-B14F-4D97-AF65-F5344CB8AC3E}">
        <p14:creationId xmlns:p14="http://schemas.microsoft.com/office/powerpoint/2010/main" val="12051087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C0095-B76D-144E-22D0-BF270AD1AD0D}"/>
              </a:ext>
            </a:extLst>
          </p:cNvPr>
          <p:cNvSpPr>
            <a:spLocks noGrp="1"/>
          </p:cNvSpPr>
          <p:nvPr>
            <p:ph type="title"/>
          </p:nvPr>
        </p:nvSpPr>
        <p:spPr/>
        <p:txBody>
          <a:bodyPr/>
          <a:lstStyle/>
          <a:p>
            <a:r>
              <a:rPr lang="en-NZ" dirty="0"/>
              <a:t>Tools</a:t>
            </a:r>
          </a:p>
        </p:txBody>
      </p:sp>
      <p:sp>
        <p:nvSpPr>
          <p:cNvPr id="3" name="Content Placeholder 2">
            <a:extLst>
              <a:ext uri="{FF2B5EF4-FFF2-40B4-BE49-F238E27FC236}">
                <a16:creationId xmlns:a16="http://schemas.microsoft.com/office/drawing/2014/main" id="{64CAF1F4-6CB2-C5BE-0762-B77A45023514}"/>
              </a:ext>
            </a:extLst>
          </p:cNvPr>
          <p:cNvSpPr>
            <a:spLocks noGrp="1"/>
          </p:cNvSpPr>
          <p:nvPr>
            <p:ph idx="1"/>
          </p:nvPr>
        </p:nvSpPr>
        <p:spPr/>
        <p:txBody>
          <a:bodyPr/>
          <a:lstStyle/>
          <a:p>
            <a:r>
              <a:rPr lang="en-US" dirty="0"/>
              <a:t>I implemented the models using Python with TensorFlow/</a:t>
            </a:r>
            <a:r>
              <a:rPr lang="en-US" dirty="0" err="1"/>
              <a:t>Keras</a:t>
            </a:r>
            <a:r>
              <a:rPr lang="en-US" dirty="0"/>
              <a:t> for deep learning, alongside NumPy, pandas, scikit-learn, matplotlib, seaborn, and standard OS libraries for data processing, evaluation, and visualization.</a:t>
            </a:r>
          </a:p>
          <a:p>
            <a:r>
              <a:rPr lang="en-US" dirty="0"/>
              <a:t>The dataset used was CIC-IDS-2017 obtained from Kaggle: </a:t>
            </a:r>
            <a:r>
              <a:rPr lang="en-US" u="sng" dirty="0">
                <a:hlinkClick r:id="rId2"/>
              </a:rPr>
              <a:t>https://www.kaggle.com/datasets/chethuhn/network-intrusion-dataset</a:t>
            </a:r>
            <a:endParaRPr lang="en-US" dirty="0"/>
          </a:p>
        </p:txBody>
      </p:sp>
    </p:spTree>
    <p:extLst>
      <p:ext uri="{BB962C8B-B14F-4D97-AF65-F5344CB8AC3E}">
        <p14:creationId xmlns:p14="http://schemas.microsoft.com/office/powerpoint/2010/main" val="7269628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D6B69-F6D8-C456-5ECB-416CB5663078}"/>
              </a:ext>
            </a:extLst>
          </p:cNvPr>
          <p:cNvSpPr>
            <a:spLocks noGrp="1"/>
          </p:cNvSpPr>
          <p:nvPr>
            <p:ph type="title"/>
          </p:nvPr>
        </p:nvSpPr>
        <p:spPr/>
        <p:txBody>
          <a:bodyPr/>
          <a:lstStyle/>
          <a:p>
            <a:r>
              <a:rPr lang="en-NZ" dirty="0"/>
              <a:t>Code availability</a:t>
            </a:r>
          </a:p>
        </p:txBody>
      </p:sp>
      <p:sp>
        <p:nvSpPr>
          <p:cNvPr id="5" name="Content Placeholder 4">
            <a:extLst>
              <a:ext uri="{FF2B5EF4-FFF2-40B4-BE49-F238E27FC236}">
                <a16:creationId xmlns:a16="http://schemas.microsoft.com/office/drawing/2014/main" id="{83CDBDE3-A3CF-D192-65D2-7C987BA8F1A1}"/>
              </a:ext>
            </a:extLst>
          </p:cNvPr>
          <p:cNvSpPr>
            <a:spLocks noGrp="1"/>
          </p:cNvSpPr>
          <p:nvPr>
            <p:ph idx="1"/>
          </p:nvPr>
        </p:nvSpPr>
        <p:spPr/>
        <p:txBody>
          <a:bodyPr/>
          <a:lstStyle/>
          <a:p>
            <a:r>
              <a:rPr lang="en-NZ" b="1" dirty="0"/>
              <a:t>Code Repository:</a:t>
            </a:r>
            <a:br>
              <a:rPr lang="en-NZ" dirty="0"/>
            </a:br>
            <a:r>
              <a:rPr lang="en-NZ" b="1" dirty="0"/>
              <a:t>GitHub:</a:t>
            </a:r>
            <a:r>
              <a:rPr lang="en-NZ" dirty="0"/>
              <a:t> </a:t>
            </a:r>
            <a:r>
              <a:rPr lang="en-NZ" dirty="0">
                <a:hlinkClick r:id="rId2"/>
              </a:rPr>
              <a:t>https://github.com/adwanis/AIML339-anomaly-detection</a:t>
            </a:r>
            <a:endParaRPr lang="en-NZ" dirty="0"/>
          </a:p>
        </p:txBody>
      </p:sp>
    </p:spTree>
    <p:extLst>
      <p:ext uri="{BB962C8B-B14F-4D97-AF65-F5344CB8AC3E}">
        <p14:creationId xmlns:p14="http://schemas.microsoft.com/office/powerpoint/2010/main" val="35183691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BC06E-C4BA-E52D-3A91-3F691B1DC62A}"/>
              </a:ext>
            </a:extLst>
          </p:cNvPr>
          <p:cNvSpPr>
            <a:spLocks noGrp="1"/>
          </p:cNvSpPr>
          <p:nvPr>
            <p:ph type="title"/>
          </p:nvPr>
        </p:nvSpPr>
        <p:spPr/>
        <p:txBody>
          <a:bodyPr/>
          <a:lstStyle/>
          <a:p>
            <a:r>
              <a:rPr lang="en-NZ" dirty="0"/>
              <a:t>Thank you</a:t>
            </a:r>
          </a:p>
        </p:txBody>
      </p:sp>
      <p:sp>
        <p:nvSpPr>
          <p:cNvPr id="3" name="Content Placeholder 2">
            <a:extLst>
              <a:ext uri="{FF2B5EF4-FFF2-40B4-BE49-F238E27FC236}">
                <a16:creationId xmlns:a16="http://schemas.microsoft.com/office/drawing/2014/main" id="{1D237D30-354D-9CA3-71C3-C74AD16BAE9F}"/>
              </a:ext>
            </a:extLst>
          </p:cNvPr>
          <p:cNvSpPr>
            <a:spLocks noGrp="1"/>
          </p:cNvSpPr>
          <p:nvPr>
            <p:ph idx="1"/>
          </p:nvPr>
        </p:nvSpPr>
        <p:spPr/>
        <p:txBody>
          <a:bodyPr/>
          <a:lstStyle/>
          <a:p>
            <a:endParaRPr lang="en-NZ" dirty="0"/>
          </a:p>
        </p:txBody>
      </p:sp>
    </p:spTree>
    <p:extLst>
      <p:ext uri="{BB962C8B-B14F-4D97-AF65-F5344CB8AC3E}">
        <p14:creationId xmlns:p14="http://schemas.microsoft.com/office/powerpoint/2010/main" val="356710953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2365</TotalTime>
  <Words>3396</Words>
  <Application>Microsoft Office PowerPoint</Application>
  <PresentationFormat>Widescreen</PresentationFormat>
  <Paragraphs>410</Paragraphs>
  <Slides>37</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Aptos</vt:lpstr>
      <vt:lpstr>Arial</vt:lpstr>
      <vt:lpstr>Trebuchet MS</vt:lpstr>
      <vt:lpstr>Wingdings 3</vt:lpstr>
      <vt:lpstr>Facet</vt:lpstr>
      <vt:lpstr>Deep Learning for Anomaly Detection in Cybersecurity</vt:lpstr>
      <vt:lpstr>Motivation</vt:lpstr>
      <vt:lpstr>Motivation</vt:lpstr>
      <vt:lpstr>Motivation</vt:lpstr>
      <vt:lpstr>Research Background and Contribution</vt:lpstr>
      <vt:lpstr>PowerPoint Presentation</vt:lpstr>
      <vt:lpstr>Selected Models</vt:lpstr>
      <vt:lpstr>VAE</vt:lpstr>
      <vt:lpstr>VAE</vt:lpstr>
      <vt:lpstr>GANomaly</vt:lpstr>
      <vt:lpstr>GANomaly</vt:lpstr>
      <vt:lpstr>Deep SVDD</vt:lpstr>
      <vt:lpstr>Deep SVDD</vt:lpstr>
      <vt:lpstr>Why These Three Models?</vt:lpstr>
      <vt:lpstr>Methodology</vt:lpstr>
      <vt:lpstr>CIC-IDS-2017 </vt:lpstr>
      <vt:lpstr>Methodology</vt:lpstr>
      <vt:lpstr>Methodology </vt:lpstr>
      <vt:lpstr>Methodology</vt:lpstr>
      <vt:lpstr>Methodology</vt:lpstr>
      <vt:lpstr>Methodology</vt:lpstr>
      <vt:lpstr>The results</vt:lpstr>
      <vt:lpstr>The results</vt:lpstr>
      <vt:lpstr>The result</vt:lpstr>
      <vt:lpstr>The results</vt:lpstr>
      <vt:lpstr>The results</vt:lpstr>
      <vt:lpstr>PowerPoint Presentation</vt:lpstr>
      <vt:lpstr>PowerPoint Presentation</vt:lpstr>
      <vt:lpstr>Why we saw these results?</vt:lpstr>
      <vt:lpstr>Recommendations</vt:lpstr>
      <vt:lpstr>Recommendation  </vt:lpstr>
      <vt:lpstr>Discussion &amp; future</vt:lpstr>
      <vt:lpstr>Limitations</vt:lpstr>
      <vt:lpstr>Ethics and Social implications</vt:lpstr>
      <vt:lpstr>Tools</vt:lpstr>
      <vt:lpstr>Code availability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Sahil Adwani</dc:creator>
  <cp:lastModifiedBy>Sahil Adwani</cp:lastModifiedBy>
  <cp:revision>23</cp:revision>
  <dcterms:created xsi:type="dcterms:W3CDTF">2025-07-16T23:47:42Z</dcterms:created>
  <dcterms:modified xsi:type="dcterms:W3CDTF">2025-10-21T11:17:04Z</dcterms:modified>
</cp:coreProperties>
</file>